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mo" id="{9ebc92b0-1078-9209-32ac-c9acc8e65153}">
          <p14:sldIdLst>
            <p14:sldId id="259"/>
            <p14:sldId id="260"/>
            <p14:sldId id="261"/>
          </p14:sldIdLst>
        </p14:section>
        <p14:section name="Default-1" id="{746e4057-fcf1-7e53-dc52-e80c02498917}">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(ends at 0:10 of 5:00).
Hello, we are BenchCraft. We tell technical founders which AI model to choose for their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(ends at 0:35 of 5:00).
A founder must pick an AI model early. Too big, and they waste money. Too small, and the quality is weak, customers leave, and that is lost money too. In our example, a top-tier model costs fifteen hundred dollars a month, when a fifteen-dollar model would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(ends at 0:45 of 5:00).
BenchCraft gives you the right model, a clear comparison of the top three, and where to buy it.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(ends at 1:00 of 5:00).
These are sample screens. Nari Boutique is a fashion shop in Cambodia. The owner describes the business in plain words, uploads their documents, and clicks Find my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(ends at 1:20 of 5:00).
BenchCraft returns three models, each with a fit score and a monthly cost. Haiku 5.5 is recommended: it clears the owner's quality bar for fifteen dollars a month. Sonnet costs twenty times more for seven more fit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(ends at 1:45 of 5:00).
Then the decision. Choosing Haiku saves one thousand four hundred eighty-five dollars a month against the top tier, and two hundred eighty-five against Sonnet. We say where to buy it. And we are honest: it clears the bar by only three points, so we advise a test on fifty real questions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(ends at 2:00 of 5:00).
We charge twenty-nine dollars a month. After AI and payment fees, the margin is about sixty-eight percent, and two customers cover our running costs. These are assumptions we will test.
Full margin sum, if asked: twenty-nine dollars, less eight dollars of AI fees (twenty comparisons at forty cents), less one dollar fourteen of payment fees, leaves nineteen dollars eighty-six.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(ends at 2:20 of 5:00).
We start with about forty-five hundred generative AI companies. At twenty-nine dollars a month, that is about one point six million dollars a year. Our goal is one hundred customers, about two percent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(ends at 2:35 of 5:00).
We are five students. [Name] is the team lead and product owner. [Names and roles of the other four.] [One sentence: why this team is right for this problem.]
FILL IN the names and the one-line reason on the slide before presenting. The amber text marks what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(ends at 3:10 of 5:00).
We need three hundred sixty-five dollars: two hundred fifty for AI credits, which is about six hundred twenty-five test comparisons, a hundred for a buffer, and fifteen for the domain. Our own time is not charged. It buys a working product in ten weeks. Our targets: ten customers at month three, thirty at month six, and one hundred at month twelve, about twenty-nine hundred dollars a month. At one hundred customers we fund our next stage.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pic>
        <p:nvPicPr>
          <p:cNvPr id="3" name="Image 0" descr="BenchCraft logo">    </p:cNvPr>
          <p:cNvPicPr>
            <a:picLocks noChangeAspect="1"/>
          </p:cNvPicPr>
          <p:nvPr/>
        </p:nvPicPr>
        <p:blipFill>
          <a:blip r:embed="rId1"/>
          <a:stretch>
            <a:fillRect/>
          </a:stretch>
        </p:blipFill>
        <p:spPr>
          <a:xfrm>
            <a:off x="457200" y="4700016"/>
            <a:ext cx="1143000" cy="27432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BenchCraft logo">    </p:cNvPr>
          <p:cNvPicPr>
            <a:picLocks noChangeAspect="1"/>
          </p:cNvPicPr>
          <p:nvPr/>
        </p:nvPicPr>
        <p:blipFill>
          <a:blip r:embed="rId1"/>
          <a:stretch>
            <a:fillRect/>
          </a:stretch>
        </p:blipFill>
        <p:spPr>
          <a:xfrm>
            <a:off x="457200" y="4700016"/>
            <a:ext cx="1143000" cy="274320"/>
          </a:xfrm>
          <a:prstGeom prst="rect">
            <a:avLst/>
          </a:prstGeom>
        </p:spPr>
      </p:pic>
      <p:sp>
        <p:nvSpPr>
          <p:cNvPr id="3" name="Text 0"/>
          <p:cNvSpPr/>
          <p:nvPr>
            <p:ph idx="101" type="title" hasCustomPrompt="1"/>
          </p:nvPr>
        </p:nvSpPr>
        <p:spPr>
          <a:xfrm>
            <a:off x="640080" y="365760"/>
            <a:ext cx="78638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BenchCraft">    </p:cNvPr>
          <p:cNvPicPr>
            <a:picLocks noChangeAspect="1"/>
          </p:cNvPicPr>
          <p:nvPr/>
        </p:nvPicPr>
        <p:blipFill>
          <a:blip r:embed="rId1"/>
          <a:stretch>
            <a:fillRect/>
          </a:stretch>
        </p:blipFill>
        <p:spPr>
          <a:xfrm>
            <a:off x="731520" y="1417320"/>
            <a:ext cx="5669280" cy="1358798"/>
          </a:xfrm>
          <a:prstGeom prst="rect">
            <a:avLst/>
          </a:prstGeom>
        </p:spPr>
      </p:pic>
      <p:sp>
        <p:nvSpPr>
          <p:cNvPr id="3" name="Inc"/>
          <p:cNvSpPr txBox="1"/>
          <p:nvPr/>
        </p:nvSpPr>
        <p:spPr>
          <a:xfrm>
            <a:off x="6217920" y="2103120"/>
            <a:ext cx="914400" cy="411480"/>
          </a:xfrm>
          <a:prstGeom prst="rect">
            <a:avLst/>
          </a:prstGeom>
          <a:noFill/>
          <a:ln/>
        </p:spPr>
        <p:txBody>
          <a:bodyPr wrap="square" lIns="0" tIns="0" rIns="0" bIns="0" rtlCol="0" anchor="b"/>
          <a:lstStyle/>
          <a:p>
            <a:pPr indent="0" marL="0">
              <a:buNone/>
            </a:pPr>
            <a:r>
              <a:rPr lang="en-US" sz="2400" dirty="0">
                <a:solidFill>
                  <a:schemeClr val="bg2"/>
                </a:solidFill>
                <a:latin typeface="+mj-lt" pitchFamily="34" charset="0"/>
                <a:ea typeface="+mj-lt" pitchFamily="34" charset="-122"/>
                <a:cs typeface="+mj-lt" pitchFamily="34" charset="-120"/>
              </a:rPr>
              <a:t>Inc.</a:t>
            </a:r>
            <a:endParaRPr lang="en-US" sz="2400" dirty="0"/>
          </a:p>
        </p:txBody>
      </p:sp>
      <p:sp>
        <p:nvSpPr>
          <p:cNvPr id="4" name="One-line description"/>
          <p:cNvSpPr txBox="1"/>
          <p:nvPr/>
        </p:nvSpPr>
        <p:spPr>
          <a:xfrm>
            <a:off x="822960" y="3063240"/>
            <a:ext cx="6949440" cy="822960"/>
          </a:xfrm>
          <a:prstGeom prst="rect">
            <a:avLst/>
          </a:prstGeom>
          <a:noFill/>
          <a:ln/>
        </p:spPr>
        <p:txBody>
          <a:bodyPr wrap="square" lIns="0" tIns="0" rIns="0" bIns="0" rtlCol="0" anchor="t"/>
          <a:lstStyle/>
          <a:p>
            <a:pPr indent="0" marL="0">
              <a:buNone/>
            </a:pPr>
            <a:r>
              <a:rPr lang="en-US" sz="2600" dirty="0">
                <a:solidFill>
                  <a:schemeClr val="bg2"/>
                </a:solidFill>
              </a:rPr>
              <a:t>Tells you which AI model to choose for your business.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Founders pick the wrong AI model</a:t>
            </a:r>
            <a:endParaRPr lang="en-US" sz="3400" dirty="0"/>
          </a:p>
        </p:txBody>
      </p:sp>
      <p:sp>
        <p:nvSpPr>
          <p:cNvPr id="3" name="Problem head 1"/>
          <p:cNvSpPr txBox="1"/>
          <p:nvPr/>
        </p:nvSpPr>
        <p:spPr>
          <a:xfrm>
            <a:off x="640080" y="1600200"/>
            <a:ext cx="3749040" cy="868680"/>
          </a:xfrm>
          <a:prstGeom prst="rect">
            <a:avLst/>
          </a:prstGeom>
          <a:noFill/>
          <a:ln/>
        </p:spPr>
        <p:txBody>
          <a:bodyPr wrap="square" lIns="0" tIns="0" rIns="0" bIns="0" rtlCol="0" anchor="ctr"/>
          <a:lstStyle/>
          <a:p>
            <a:pPr indent="0" marL="0">
              <a:buNone/>
            </a:pPr>
            <a:r>
              <a:rPr lang="en-US" sz="4600" b="1" dirty="0">
                <a:solidFill>
                  <a:schemeClr val="tx1"/>
                </a:solidFill>
                <a:latin typeface="+mj-lt" pitchFamily="34" charset="0"/>
                <a:ea typeface="+mj-lt" pitchFamily="34" charset="-122"/>
                <a:cs typeface="+mj-lt" pitchFamily="34" charset="-120"/>
              </a:rPr>
              <a:t>Too big</a:t>
            </a:r>
            <a:endParaRPr lang="en-US" sz="4600" dirty="0"/>
          </a:p>
        </p:txBody>
      </p:sp>
      <p:sp>
        <p:nvSpPr>
          <p:cNvPr id="4" name="Problem result 1"/>
          <p:cNvSpPr txBox="1"/>
          <p:nvPr/>
        </p:nvSpPr>
        <p:spPr>
          <a:xfrm>
            <a:off x="640080" y="2514600"/>
            <a:ext cx="3749040" cy="548640"/>
          </a:xfrm>
          <a:prstGeom prst="rect">
            <a:avLst/>
          </a:prstGeom>
          <a:noFill/>
          <a:ln/>
        </p:spPr>
        <p:txBody>
          <a:bodyPr wrap="square" lIns="0" tIns="0" rIns="0" bIns="0" rtlCol="0" anchor="t"/>
          <a:lstStyle/>
          <a:p>
            <a:pPr indent="0" marL="0">
              <a:buNone/>
            </a:pPr>
            <a:r>
              <a:rPr lang="en-US" sz="2600" dirty="0">
                <a:solidFill>
                  <a:schemeClr val="accent4"/>
                </a:solidFill>
              </a:rPr>
              <a:t>Wasted money.</a:t>
            </a:r>
            <a:endParaRPr lang="en-US" sz="2600" dirty="0"/>
          </a:p>
        </p:txBody>
      </p:sp>
      <p:sp>
        <p:nvSpPr>
          <p:cNvPr id="5" name="Problem head 2"/>
          <p:cNvSpPr txBox="1"/>
          <p:nvPr/>
        </p:nvSpPr>
        <p:spPr>
          <a:xfrm>
            <a:off x="4754880" y="1600200"/>
            <a:ext cx="3749040" cy="868680"/>
          </a:xfrm>
          <a:prstGeom prst="rect">
            <a:avLst/>
          </a:prstGeom>
          <a:noFill/>
          <a:ln/>
        </p:spPr>
        <p:txBody>
          <a:bodyPr wrap="square" lIns="0" tIns="0" rIns="0" bIns="0" rtlCol="0" anchor="ctr"/>
          <a:lstStyle/>
          <a:p>
            <a:pPr indent="0" marL="0">
              <a:buNone/>
            </a:pPr>
            <a:r>
              <a:rPr lang="en-US" sz="4600" b="1" dirty="0">
                <a:solidFill>
                  <a:schemeClr val="tx1"/>
                </a:solidFill>
                <a:latin typeface="+mj-lt" pitchFamily="34" charset="0"/>
                <a:ea typeface="+mj-lt" pitchFamily="34" charset="-122"/>
                <a:cs typeface="+mj-lt" pitchFamily="34" charset="-120"/>
              </a:rPr>
              <a:t>Too small</a:t>
            </a:r>
            <a:endParaRPr lang="en-US" sz="4600" dirty="0"/>
          </a:p>
        </p:txBody>
      </p:sp>
      <p:sp>
        <p:nvSpPr>
          <p:cNvPr id="6" name="Problem result 2"/>
          <p:cNvSpPr txBox="1"/>
          <p:nvPr/>
        </p:nvSpPr>
        <p:spPr>
          <a:xfrm>
            <a:off x="4754880" y="2514600"/>
            <a:ext cx="3749040" cy="548640"/>
          </a:xfrm>
          <a:prstGeom prst="rect">
            <a:avLst/>
          </a:prstGeom>
          <a:noFill/>
          <a:ln/>
        </p:spPr>
        <p:txBody>
          <a:bodyPr wrap="square" lIns="0" tIns="0" rIns="0" bIns="0" rtlCol="0" anchor="t"/>
          <a:lstStyle/>
          <a:p>
            <a:pPr indent="0" marL="0">
              <a:buNone/>
            </a:pPr>
            <a:r>
              <a:rPr lang="en-US" sz="2600" dirty="0">
                <a:solidFill>
                  <a:schemeClr val="accent4"/>
                </a:solidFill>
              </a:rPr>
              <a:t>Lost customers.</a:t>
            </a:r>
            <a:endParaRPr lang="en-US" sz="2600" dirty="0"/>
          </a:p>
        </p:txBody>
      </p:sp>
      <p:sp>
        <p:nvSpPr>
          <p:cNvPr id="7" name="Example"/>
          <p:cNvSpPr txBox="1"/>
          <p:nvPr/>
        </p:nvSpPr>
        <p:spPr>
          <a:xfrm>
            <a:off x="640080" y="3749040"/>
            <a:ext cx="7863840" cy="548640"/>
          </a:xfrm>
          <a:prstGeom prst="rect">
            <a:avLst/>
          </a:prstGeom>
          <a:noFill/>
          <a:ln/>
        </p:spPr>
        <p:txBody>
          <a:bodyPr wrap="square" lIns="0" tIns="0" rIns="0" bIns="0" rtlCol="0" anchor="t"/>
          <a:lstStyle/>
          <a:p>
            <a:pPr indent="0" marL="0">
              <a:buNone/>
            </a:pPr>
            <a:r>
              <a:rPr lang="en-US" sz="2400" b="1" dirty="0">
                <a:solidFill>
                  <a:schemeClr val="accent6"/>
                </a:solidFill>
              </a:rPr>
              <a:t>$1,500 a month, when $15 would do.</a:t>
            </a:r>
            <a:endParaRPr lang="en-US" sz="2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BenchCraft tells you which model fits</a:t>
            </a:r>
            <a:endParaRPr lang="en-US" sz="3400" dirty="0"/>
          </a:p>
        </p:txBody>
      </p:sp>
      <p:sp>
        <p:nvSpPr>
          <p:cNvPr id="3" name="Solution circle 1"/>
          <p:cNvSpPr/>
          <p:nvPr/>
        </p:nvSpPr>
        <p:spPr>
          <a:xfrm>
            <a:off x="640080" y="1691640"/>
            <a:ext cx="868680" cy="868680"/>
          </a:xfrm>
          <a:prstGeom prst="ellipse">
            <a:avLst/>
          </a:prstGeom>
          <a:solidFill>
            <a:schemeClr val="accent1"/>
          </a:solidFill>
          <a:ln/>
        </p:spPr>
      </p:sp>
      <p:pic>
        <p:nvPicPr>
          <p:cNvPr id="4" name="Solution icon 1" descr="The right model">    </p:cNvPr>
          <p:cNvPicPr>
            <a:picLocks noChangeAspect="1"/>
          </p:cNvPicPr>
          <p:nvPr/>
        </p:nvPicPr>
        <p:blipFill>
          <a:blip r:embed="rId1"/>
          <a:stretch>
            <a:fillRect/>
          </a:stretch>
        </p:blipFill>
        <p:spPr>
          <a:xfrm>
            <a:off x="877824" y="1929384"/>
            <a:ext cx="393192" cy="393192"/>
          </a:xfrm>
          <a:prstGeom prst="rect">
            <a:avLst/>
          </a:prstGeom>
        </p:spPr>
      </p:pic>
      <p:sp>
        <p:nvSpPr>
          <p:cNvPr id="5" name="Solution label 1"/>
          <p:cNvSpPr txBox="1"/>
          <p:nvPr/>
        </p:nvSpPr>
        <p:spPr>
          <a:xfrm>
            <a:off x="640080" y="2834640"/>
            <a:ext cx="2560320" cy="822960"/>
          </a:xfrm>
          <a:prstGeom prst="rect">
            <a:avLst/>
          </a:prstGeom>
          <a:noFill/>
          <a:ln/>
        </p:spPr>
        <p:txBody>
          <a:bodyPr wrap="square" lIns="0" tIns="0" rIns="0" bIns="0" rtlCol="0" anchor="t"/>
          <a:lstStyle/>
          <a:p>
            <a:pPr indent="0" marL="0">
              <a:buNone/>
            </a:pPr>
            <a:r>
              <a:rPr lang="en-US" sz="2600" b="1" dirty="0">
                <a:solidFill>
                  <a:schemeClr val="tx1"/>
                </a:solidFill>
              </a:rPr>
              <a:t>The right model</a:t>
            </a:r>
            <a:endParaRPr lang="en-US" sz="2600" dirty="0"/>
          </a:p>
        </p:txBody>
      </p:sp>
      <p:sp>
        <p:nvSpPr>
          <p:cNvPr id="6" name="Solution circle 2"/>
          <p:cNvSpPr/>
          <p:nvPr/>
        </p:nvSpPr>
        <p:spPr>
          <a:xfrm>
            <a:off x="3474720" y="1691640"/>
            <a:ext cx="868680" cy="868680"/>
          </a:xfrm>
          <a:prstGeom prst="ellipse">
            <a:avLst/>
          </a:prstGeom>
          <a:solidFill>
            <a:schemeClr val="accent1"/>
          </a:solidFill>
          <a:ln/>
        </p:spPr>
      </p:sp>
      <p:pic>
        <p:nvPicPr>
          <p:cNvPr id="7" name="Solution icon 2" descr="A clear comparison">    </p:cNvPr>
          <p:cNvPicPr>
            <a:picLocks noChangeAspect="1"/>
          </p:cNvPicPr>
          <p:nvPr/>
        </p:nvPicPr>
        <p:blipFill>
          <a:blip r:embed="rId2"/>
          <a:stretch>
            <a:fillRect/>
          </a:stretch>
        </p:blipFill>
        <p:spPr>
          <a:xfrm>
            <a:off x="3712464" y="1929384"/>
            <a:ext cx="393192" cy="393192"/>
          </a:xfrm>
          <a:prstGeom prst="rect">
            <a:avLst/>
          </a:prstGeom>
        </p:spPr>
      </p:pic>
      <p:sp>
        <p:nvSpPr>
          <p:cNvPr id="8" name="Solution label 2"/>
          <p:cNvSpPr txBox="1"/>
          <p:nvPr/>
        </p:nvSpPr>
        <p:spPr>
          <a:xfrm>
            <a:off x="3474720" y="2834640"/>
            <a:ext cx="2560320" cy="822960"/>
          </a:xfrm>
          <a:prstGeom prst="rect">
            <a:avLst/>
          </a:prstGeom>
          <a:noFill/>
          <a:ln/>
        </p:spPr>
        <p:txBody>
          <a:bodyPr wrap="square" lIns="0" tIns="0" rIns="0" bIns="0" rtlCol="0" anchor="t"/>
          <a:lstStyle/>
          <a:p>
            <a:pPr indent="0" marL="0">
              <a:buNone/>
            </a:pPr>
            <a:r>
              <a:rPr lang="en-US" sz="2600" b="1" dirty="0">
                <a:solidFill>
                  <a:schemeClr val="tx1"/>
                </a:solidFill>
              </a:rPr>
              <a:t>A clear comparison</a:t>
            </a:r>
            <a:endParaRPr lang="en-US" sz="2600" dirty="0"/>
          </a:p>
        </p:txBody>
      </p:sp>
      <p:sp>
        <p:nvSpPr>
          <p:cNvPr id="9" name="Solution circle 3"/>
          <p:cNvSpPr/>
          <p:nvPr/>
        </p:nvSpPr>
        <p:spPr>
          <a:xfrm>
            <a:off x="6309360" y="1691640"/>
            <a:ext cx="868680" cy="868680"/>
          </a:xfrm>
          <a:prstGeom prst="ellipse">
            <a:avLst/>
          </a:prstGeom>
          <a:solidFill>
            <a:schemeClr val="accent1"/>
          </a:solidFill>
          <a:ln/>
        </p:spPr>
      </p:sp>
      <p:pic>
        <p:nvPicPr>
          <p:cNvPr id="10" name="Solution icon 3" descr="Where to buy it">    </p:cNvPr>
          <p:cNvPicPr>
            <a:picLocks noChangeAspect="1"/>
          </p:cNvPicPr>
          <p:nvPr/>
        </p:nvPicPr>
        <p:blipFill>
          <a:blip r:embed="rId3"/>
          <a:stretch>
            <a:fillRect/>
          </a:stretch>
        </p:blipFill>
        <p:spPr>
          <a:xfrm>
            <a:off x="6547104" y="1929384"/>
            <a:ext cx="393192" cy="393192"/>
          </a:xfrm>
          <a:prstGeom prst="rect">
            <a:avLst/>
          </a:prstGeom>
        </p:spPr>
      </p:pic>
      <p:sp>
        <p:nvSpPr>
          <p:cNvPr id="11" name="Solution label 3"/>
          <p:cNvSpPr txBox="1"/>
          <p:nvPr/>
        </p:nvSpPr>
        <p:spPr>
          <a:xfrm>
            <a:off x="6309360" y="2834640"/>
            <a:ext cx="2560320" cy="822960"/>
          </a:xfrm>
          <a:prstGeom prst="rect">
            <a:avLst/>
          </a:prstGeom>
          <a:noFill/>
          <a:ln/>
        </p:spPr>
        <p:txBody>
          <a:bodyPr wrap="square" lIns="0" tIns="0" rIns="0" bIns="0" rtlCol="0" anchor="t"/>
          <a:lstStyle/>
          <a:p>
            <a:pPr indent="0" marL="0">
              <a:buNone/>
            </a:pPr>
            <a:r>
              <a:rPr lang="en-US" sz="2600" b="1" dirty="0">
                <a:solidFill>
                  <a:schemeClr val="tx1"/>
                </a:solidFill>
              </a:rPr>
              <a:t>Where to buy it</a:t>
            </a:r>
            <a:endParaRPr lang="en-US" sz="2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Describe your business</a:t>
            </a:r>
            <a:endParaRPr lang="en-US" sz="3400" dirty="0"/>
          </a:p>
        </p:txBody>
      </p:sp>
      <p:pic>
        <p:nvPicPr>
          <p:cNvPr id="3" name="Demo screen 1" descr="Screen 1: a shop owner describes the business and uploads three documents">    </p:cNvPr>
          <p:cNvPicPr>
            <a:picLocks noChangeAspect="1"/>
          </p:cNvPicPr>
          <p:nvPr/>
        </p:nvPicPr>
        <p:blipFill>
          <a:blip r:embed="rId1"/>
          <a:stretch>
            <a:fillRect/>
          </a:stretch>
        </p:blipFill>
        <p:spPr>
          <a:xfrm>
            <a:off x="1371600" y="1097280"/>
            <a:ext cx="6400800" cy="3600450"/>
          </a:xfrm>
          <a:prstGeom prst="rect">
            <a:avLst/>
          </a:prstGeom>
        </p:spPr>
      </p:pic>
      <p:sp>
        <p:nvSpPr>
          <p:cNvPr id="4" name="Screen outline 1"/>
          <p:cNvSpPr/>
          <p:nvPr/>
        </p:nvSpPr>
        <p:spPr>
          <a:xfrm>
            <a:off x="1371600" y="1097280"/>
            <a:ext cx="6400800" cy="3600450"/>
          </a:xfrm>
          <a:prstGeom prst="rect">
            <a:avLst/>
          </a:prstGeom>
          <a:ln w="12700">
            <a:solidFill>
              <a:schemeClr val="accent4"/>
            </a:solidFill>
            <a:prstDash val="solid"/>
          </a:ln>
        </p:spPr>
      </p:sp>
      <p:sp>
        <p:nvSpPr>
          <p:cNvPr id="5" name="Sample data tag 1"/>
          <p:cNvSpPr txBox="1"/>
          <p:nvPr/>
        </p:nvSpPr>
        <p:spPr>
          <a:xfrm>
            <a:off x="5943600" y="4761738"/>
            <a:ext cx="1828800" cy="228600"/>
          </a:xfrm>
          <a:prstGeom prst="rect">
            <a:avLst/>
          </a:prstGeom>
          <a:noFill/>
          <a:ln/>
        </p:spPr>
        <p:txBody>
          <a:bodyPr wrap="square" lIns="0" tIns="0" rIns="0" bIns="0" rtlCol="0" anchor="t"/>
          <a:lstStyle/>
          <a:p>
            <a:pPr algn="r" indent="0" marL="0">
              <a:buNone/>
            </a:pPr>
            <a:r>
              <a:rPr lang="en-US" sz="1100" dirty="0">
                <a:solidFill>
                  <a:schemeClr val="accent4"/>
                </a:solidFill>
              </a:rPr>
              <a:t>Sample data</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See the top 3</a:t>
            </a:r>
            <a:endParaRPr lang="en-US" sz="3400" dirty="0"/>
          </a:p>
        </p:txBody>
      </p:sp>
      <p:pic>
        <p:nvPicPr>
          <p:cNvPr id="3" name="Demo screen 2" descr="Screen 2: three models compared on fit and monthly cost">    </p:cNvPr>
          <p:cNvPicPr>
            <a:picLocks noChangeAspect="1"/>
          </p:cNvPicPr>
          <p:nvPr/>
        </p:nvPicPr>
        <p:blipFill>
          <a:blip r:embed="rId1"/>
          <a:stretch>
            <a:fillRect/>
          </a:stretch>
        </p:blipFill>
        <p:spPr>
          <a:xfrm>
            <a:off x="1371600" y="1097280"/>
            <a:ext cx="6400800" cy="3600450"/>
          </a:xfrm>
          <a:prstGeom prst="rect">
            <a:avLst/>
          </a:prstGeom>
        </p:spPr>
      </p:pic>
      <p:sp>
        <p:nvSpPr>
          <p:cNvPr id="4" name="Screen outline 2"/>
          <p:cNvSpPr/>
          <p:nvPr/>
        </p:nvSpPr>
        <p:spPr>
          <a:xfrm>
            <a:off x="1371600" y="1097280"/>
            <a:ext cx="6400800" cy="3600450"/>
          </a:xfrm>
          <a:prstGeom prst="rect">
            <a:avLst/>
          </a:prstGeom>
          <a:ln w="12700">
            <a:solidFill>
              <a:schemeClr val="accent4"/>
            </a:solidFill>
            <a:prstDash val="solid"/>
          </a:ln>
        </p:spPr>
      </p:sp>
      <p:sp>
        <p:nvSpPr>
          <p:cNvPr id="5" name="Sample data tag 2"/>
          <p:cNvSpPr txBox="1"/>
          <p:nvPr/>
        </p:nvSpPr>
        <p:spPr>
          <a:xfrm>
            <a:off x="5943600" y="4761738"/>
            <a:ext cx="1828800" cy="228600"/>
          </a:xfrm>
          <a:prstGeom prst="rect">
            <a:avLst/>
          </a:prstGeom>
          <a:noFill/>
          <a:ln/>
        </p:spPr>
        <p:txBody>
          <a:bodyPr wrap="square" lIns="0" tIns="0" rIns="0" bIns="0" rtlCol="0" anchor="t"/>
          <a:lstStyle/>
          <a:p>
            <a:pPr algn="r" indent="0" marL="0">
              <a:buNone/>
            </a:pPr>
            <a:r>
              <a:rPr lang="en-US" sz="1100" dirty="0">
                <a:solidFill>
                  <a:schemeClr val="accent4"/>
                </a:solidFill>
              </a:rPr>
              <a:t>Sample data</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Know what to buy, and where</a:t>
            </a:r>
            <a:endParaRPr lang="en-US" sz="3400" dirty="0"/>
          </a:p>
        </p:txBody>
      </p:sp>
      <p:pic>
        <p:nvPicPr>
          <p:cNvPr id="3" name="Demo screen 3" descr="Screen 3: the recommendation, the monthly saving, and where to buy the model">    </p:cNvPr>
          <p:cNvPicPr>
            <a:picLocks noChangeAspect="1"/>
          </p:cNvPicPr>
          <p:nvPr/>
        </p:nvPicPr>
        <p:blipFill>
          <a:blip r:embed="rId1"/>
          <a:stretch>
            <a:fillRect/>
          </a:stretch>
        </p:blipFill>
        <p:spPr>
          <a:xfrm>
            <a:off x="1371600" y="1097280"/>
            <a:ext cx="6400800" cy="3600450"/>
          </a:xfrm>
          <a:prstGeom prst="rect">
            <a:avLst/>
          </a:prstGeom>
        </p:spPr>
      </p:pic>
      <p:sp>
        <p:nvSpPr>
          <p:cNvPr id="4" name="Screen outline 3"/>
          <p:cNvSpPr/>
          <p:nvPr/>
        </p:nvSpPr>
        <p:spPr>
          <a:xfrm>
            <a:off x="1371600" y="1097280"/>
            <a:ext cx="6400800" cy="3600450"/>
          </a:xfrm>
          <a:prstGeom prst="rect">
            <a:avLst/>
          </a:prstGeom>
          <a:ln w="12700">
            <a:solidFill>
              <a:schemeClr val="accent4"/>
            </a:solidFill>
            <a:prstDash val="solid"/>
          </a:ln>
        </p:spPr>
      </p:sp>
      <p:sp>
        <p:nvSpPr>
          <p:cNvPr id="5" name="Sample data tag 3"/>
          <p:cNvSpPr txBox="1"/>
          <p:nvPr/>
        </p:nvSpPr>
        <p:spPr>
          <a:xfrm>
            <a:off x="5943600" y="4761738"/>
            <a:ext cx="1828800" cy="228600"/>
          </a:xfrm>
          <a:prstGeom prst="rect">
            <a:avLst/>
          </a:prstGeom>
          <a:noFill/>
          <a:ln/>
        </p:spPr>
        <p:txBody>
          <a:bodyPr wrap="square" lIns="0" tIns="0" rIns="0" bIns="0" rtlCol="0" anchor="t"/>
          <a:lstStyle/>
          <a:p>
            <a:pPr algn="r" indent="0" marL="0">
              <a:buNone/>
            </a:pPr>
            <a:r>
              <a:rPr lang="en-US" sz="1100" dirty="0">
                <a:solidFill>
                  <a:schemeClr val="accent4"/>
                </a:solidFill>
              </a:rPr>
              <a:t>Sample data</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How we make money</a:t>
            </a:r>
            <a:endParaRPr lang="en-US" sz="3400" dirty="0"/>
          </a:p>
        </p:txBody>
      </p:sp>
      <p:sp>
        <p:nvSpPr>
          <p:cNvPr id="3" name="Model figure 1"/>
          <p:cNvSpPr txBox="1"/>
          <p:nvPr/>
        </p:nvSpPr>
        <p:spPr>
          <a:xfrm>
            <a:off x="640080" y="1554480"/>
            <a:ext cx="2560320" cy="118872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$29</a:t>
            </a:r>
            <a:endParaRPr lang="en-US" sz="6600" dirty="0"/>
          </a:p>
        </p:txBody>
      </p:sp>
      <p:sp>
        <p:nvSpPr>
          <p:cNvPr id="4" name="Model label 1"/>
          <p:cNvSpPr txBox="1"/>
          <p:nvPr/>
        </p:nvSpPr>
        <p:spPr>
          <a:xfrm>
            <a:off x="640080" y="2788920"/>
            <a:ext cx="2560320" cy="731520"/>
          </a:xfrm>
          <a:prstGeom prst="rect">
            <a:avLst/>
          </a:prstGeom>
          <a:noFill/>
          <a:ln/>
        </p:spPr>
        <p:txBody>
          <a:bodyPr wrap="square" lIns="0" tIns="0" rIns="0" bIns="0" rtlCol="0" anchor="t"/>
          <a:lstStyle/>
          <a:p>
            <a:pPr indent="0" marL="0">
              <a:buNone/>
            </a:pPr>
            <a:r>
              <a:rPr lang="en-US" sz="2200" dirty="0">
                <a:solidFill>
                  <a:schemeClr val="tx1"/>
                </a:solidFill>
              </a:rPr>
              <a:t>a month per customer</a:t>
            </a:r>
            <a:endParaRPr lang="en-US" sz="2200" dirty="0"/>
          </a:p>
        </p:txBody>
      </p:sp>
      <p:sp>
        <p:nvSpPr>
          <p:cNvPr id="5" name="Model figure 2"/>
          <p:cNvSpPr txBox="1"/>
          <p:nvPr/>
        </p:nvSpPr>
        <p:spPr>
          <a:xfrm>
            <a:off x="3474720" y="1554480"/>
            <a:ext cx="2560320" cy="118872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68%</a:t>
            </a:r>
            <a:endParaRPr lang="en-US" sz="6600" dirty="0"/>
          </a:p>
        </p:txBody>
      </p:sp>
      <p:sp>
        <p:nvSpPr>
          <p:cNvPr id="6" name="Model label 2"/>
          <p:cNvSpPr txBox="1"/>
          <p:nvPr/>
        </p:nvSpPr>
        <p:spPr>
          <a:xfrm>
            <a:off x="3474720" y="2788920"/>
            <a:ext cx="2560320" cy="731520"/>
          </a:xfrm>
          <a:prstGeom prst="rect">
            <a:avLst/>
          </a:prstGeom>
          <a:noFill/>
          <a:ln/>
        </p:spPr>
        <p:txBody>
          <a:bodyPr wrap="square" lIns="0" tIns="0" rIns="0" bIns="0" rtlCol="0" anchor="t"/>
          <a:lstStyle/>
          <a:p>
            <a:pPr indent="0" marL="0">
              <a:buNone/>
            </a:pPr>
            <a:r>
              <a:rPr lang="en-US" sz="2200" dirty="0">
                <a:solidFill>
                  <a:schemeClr val="tx1"/>
                </a:solidFill>
              </a:rPr>
              <a:t>margin after fees</a:t>
            </a:r>
            <a:endParaRPr lang="en-US" sz="2200" dirty="0"/>
          </a:p>
        </p:txBody>
      </p:sp>
      <p:sp>
        <p:nvSpPr>
          <p:cNvPr id="7" name="Model figure 3"/>
          <p:cNvSpPr txBox="1"/>
          <p:nvPr/>
        </p:nvSpPr>
        <p:spPr>
          <a:xfrm>
            <a:off x="6309360" y="1554480"/>
            <a:ext cx="2560320" cy="118872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2</a:t>
            </a:r>
            <a:endParaRPr lang="en-US" sz="6600" dirty="0"/>
          </a:p>
        </p:txBody>
      </p:sp>
      <p:sp>
        <p:nvSpPr>
          <p:cNvPr id="8" name="Model label 3"/>
          <p:cNvSpPr txBox="1"/>
          <p:nvPr/>
        </p:nvSpPr>
        <p:spPr>
          <a:xfrm>
            <a:off x="6309360" y="2788920"/>
            <a:ext cx="2560320" cy="731520"/>
          </a:xfrm>
          <a:prstGeom prst="rect">
            <a:avLst/>
          </a:prstGeom>
          <a:noFill/>
          <a:ln/>
        </p:spPr>
        <p:txBody>
          <a:bodyPr wrap="square" lIns="0" tIns="0" rIns="0" bIns="0" rtlCol="0" anchor="t"/>
          <a:lstStyle/>
          <a:p>
            <a:pPr indent="0" marL="0">
              <a:buNone/>
            </a:pPr>
            <a:r>
              <a:rPr lang="en-US" sz="2200" dirty="0">
                <a:solidFill>
                  <a:schemeClr val="tx1"/>
                </a:solidFill>
              </a:rPr>
              <a:t>customers cover our costs</a:t>
            </a:r>
            <a:endParaRPr lang="en-US" sz="2200" dirty="0"/>
          </a:p>
        </p:txBody>
      </p:sp>
      <p:sp>
        <p:nvSpPr>
          <p:cNvPr id="9" name="Model note"/>
          <p:cNvSpPr txBox="1"/>
          <p:nvPr/>
        </p:nvSpPr>
        <p:spPr>
          <a:xfrm>
            <a:off x="640080" y="4160520"/>
            <a:ext cx="7315200" cy="274320"/>
          </a:xfrm>
          <a:prstGeom prst="rect">
            <a:avLst/>
          </a:prstGeom>
          <a:noFill/>
          <a:ln/>
        </p:spPr>
        <p:txBody>
          <a:bodyPr wrap="square" lIns="0" tIns="0" rIns="0" bIns="0" rtlCol="0" anchor="t"/>
          <a:lstStyle/>
          <a:p>
            <a:pPr indent="0" marL="0">
              <a:buNone/>
            </a:pPr>
            <a:r>
              <a:rPr lang="en-US" sz="1400" i="1" dirty="0">
                <a:solidFill>
                  <a:schemeClr val="accent4"/>
                </a:solidFill>
              </a:rPr>
              <a:t>Planning assumptions, to be tested.</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Starting market</a:t>
            </a:r>
            <a:endParaRPr lang="en-US" sz="3400" dirty="0"/>
          </a:p>
        </p:txBody>
      </p:sp>
      <p:sp>
        <p:nvSpPr>
          <p:cNvPr id="3" name="Market figure 1"/>
          <p:cNvSpPr txBox="1"/>
          <p:nvPr/>
        </p:nvSpPr>
        <p:spPr>
          <a:xfrm>
            <a:off x="640080" y="1463040"/>
            <a:ext cx="3749040" cy="1280160"/>
          </a:xfrm>
          <a:prstGeom prst="rect">
            <a:avLst/>
          </a:prstGeom>
          <a:noFill/>
          <a:ln/>
        </p:spPr>
        <p:txBody>
          <a:bodyPr wrap="square" lIns="0" tIns="0" rIns="0" bIns="0" rtlCol="0" anchor="ctr"/>
          <a:lstStyle/>
          <a:p>
            <a:pPr indent="0" marL="0">
              <a:buNone/>
            </a:pPr>
            <a:r>
              <a:rPr lang="en-US" sz="7200" b="1" dirty="0">
                <a:solidFill>
                  <a:schemeClr val="accent1"/>
                </a:solidFill>
                <a:latin typeface="+mj-lt" pitchFamily="34" charset="0"/>
                <a:ea typeface="+mj-lt" pitchFamily="34" charset="-122"/>
                <a:cs typeface="+mj-lt" pitchFamily="34" charset="-120"/>
              </a:rPr>
              <a:t>4,511</a:t>
            </a:r>
            <a:endParaRPr lang="en-US" sz="7200" dirty="0"/>
          </a:p>
        </p:txBody>
      </p:sp>
      <p:sp>
        <p:nvSpPr>
          <p:cNvPr id="4" name="Market label 1"/>
          <p:cNvSpPr txBox="1"/>
          <p:nvPr/>
        </p:nvSpPr>
        <p:spPr>
          <a:xfrm>
            <a:off x="640080" y="2788920"/>
            <a:ext cx="3749040" cy="548640"/>
          </a:xfrm>
          <a:prstGeom prst="rect">
            <a:avLst/>
          </a:prstGeom>
          <a:noFill/>
          <a:ln/>
        </p:spPr>
        <p:txBody>
          <a:bodyPr wrap="square" lIns="0" tIns="0" rIns="0" bIns="0" rtlCol="0" anchor="t"/>
          <a:lstStyle/>
          <a:p>
            <a:pPr indent="0" marL="0">
              <a:buNone/>
            </a:pPr>
            <a:r>
              <a:rPr lang="en-US" sz="2400" dirty="0">
                <a:solidFill>
                  <a:schemeClr val="tx1"/>
                </a:solidFill>
              </a:rPr>
              <a:t>generative AI companies</a:t>
            </a:r>
            <a:endParaRPr lang="en-US" sz="2400" dirty="0"/>
          </a:p>
        </p:txBody>
      </p:sp>
      <p:sp>
        <p:nvSpPr>
          <p:cNvPr id="5" name="Market figure 2"/>
          <p:cNvSpPr txBox="1"/>
          <p:nvPr/>
        </p:nvSpPr>
        <p:spPr>
          <a:xfrm>
            <a:off x="4754880" y="1463040"/>
            <a:ext cx="3749040" cy="1280160"/>
          </a:xfrm>
          <a:prstGeom prst="rect">
            <a:avLst/>
          </a:prstGeom>
          <a:noFill/>
          <a:ln/>
        </p:spPr>
        <p:txBody>
          <a:bodyPr wrap="square" lIns="0" tIns="0" rIns="0" bIns="0" rtlCol="0" anchor="ctr"/>
          <a:lstStyle/>
          <a:p>
            <a:pPr indent="0" marL="0">
              <a:buNone/>
            </a:pPr>
            <a:r>
              <a:rPr lang="en-US" sz="7200" b="1" dirty="0">
                <a:solidFill>
                  <a:schemeClr val="accent1"/>
                </a:solidFill>
                <a:latin typeface="+mj-lt" pitchFamily="34" charset="0"/>
                <a:ea typeface="+mj-lt" pitchFamily="34" charset="-122"/>
                <a:cs typeface="+mj-lt" pitchFamily="34" charset="-120"/>
              </a:rPr>
              <a:t>$1.6M</a:t>
            </a:r>
            <a:endParaRPr lang="en-US" sz="7200" dirty="0"/>
          </a:p>
        </p:txBody>
      </p:sp>
      <p:sp>
        <p:nvSpPr>
          <p:cNvPr id="6" name="Market label 2"/>
          <p:cNvSpPr txBox="1"/>
          <p:nvPr/>
        </p:nvSpPr>
        <p:spPr>
          <a:xfrm>
            <a:off x="4754880" y="2788920"/>
            <a:ext cx="3749040" cy="548640"/>
          </a:xfrm>
          <a:prstGeom prst="rect">
            <a:avLst/>
          </a:prstGeom>
          <a:noFill/>
          <a:ln/>
        </p:spPr>
        <p:txBody>
          <a:bodyPr wrap="square" lIns="0" tIns="0" rIns="0" bIns="0" rtlCol="0" anchor="t"/>
          <a:lstStyle/>
          <a:p>
            <a:pPr indent="0" marL="0">
              <a:buNone/>
            </a:pPr>
            <a:r>
              <a:rPr lang="en-US" sz="2400" dirty="0">
                <a:solidFill>
                  <a:schemeClr val="tx1"/>
                </a:solidFill>
              </a:rPr>
              <a:t>a year at $29 a month</a:t>
            </a:r>
            <a:endParaRPr lang="en-US" sz="2400" dirty="0"/>
          </a:p>
        </p:txBody>
      </p:sp>
      <p:sp>
        <p:nvSpPr>
          <p:cNvPr id="7" name="Market goal"/>
          <p:cNvSpPr txBox="1"/>
          <p:nvPr/>
        </p:nvSpPr>
        <p:spPr>
          <a:xfrm>
            <a:off x="640080" y="3657600"/>
            <a:ext cx="7863840" cy="502920"/>
          </a:xfrm>
          <a:prstGeom prst="rect">
            <a:avLst/>
          </a:prstGeom>
          <a:noFill/>
          <a:ln/>
        </p:spPr>
        <p:txBody>
          <a:bodyPr wrap="square" lIns="0" tIns="0" rIns="0" bIns="0" rtlCol="0" anchor="t"/>
          <a:lstStyle/>
          <a:p>
            <a:pPr indent="0" marL="0">
              <a:buNone/>
            </a:pPr>
            <a:r>
              <a:rPr lang="en-US" sz="2600" b="1" dirty="0">
                <a:solidFill>
                  <a:schemeClr val="accent6"/>
                </a:solidFill>
              </a:rPr>
              <a:t>We need 100 of them.</a:t>
            </a:r>
            <a:endParaRPr lang="en-US" sz="2600" dirty="0"/>
          </a:p>
        </p:txBody>
      </p:sp>
      <p:sp>
        <p:nvSpPr>
          <p:cNvPr id="8" name="Market source"/>
          <p:cNvSpPr txBox="1"/>
          <p:nvPr/>
        </p:nvSpPr>
        <p:spPr>
          <a:xfrm>
            <a:off x="4754880" y="4700016"/>
            <a:ext cx="3383280" cy="274320"/>
          </a:xfrm>
          <a:prstGeom prst="rect">
            <a:avLst/>
          </a:prstGeom>
          <a:noFill/>
          <a:ln/>
        </p:spPr>
        <p:txBody>
          <a:bodyPr wrap="square" lIns="0" tIns="0" rIns="0" bIns="0" rtlCol="0" anchor="t"/>
          <a:lstStyle/>
          <a:p>
            <a:pPr algn="r" indent="0" marL="0">
              <a:buNone/>
            </a:pPr>
            <a:r>
              <a:rPr lang="en-US" sz="1100" dirty="0">
                <a:solidFill>
                  <a:schemeClr val="accent4"/>
                </a:solidFill>
              </a:rPr>
              <a:t>Source: Tracxn, Oct 2026</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640080" y="365760"/>
            <a:ext cx="7863840" cy="731520"/>
          </a:xfrm>
          <a:prstGeom prst="rect">
            <a:avLst/>
          </a:prstGeom>
          <a:noFill/>
          <a:ln/>
        </p:spPr>
        <p:txBody>
          <a:bodyPr wrap="square" lIns="0" tIns="0" rIns="0" bIns="0" rtlCol="0" anchor="ctr"/>
          <a:lstStyle/>
          <a:p>
            <a:pPr algn="l" indent="0" marL="0">
              <a:buNone/>
            </a:pPr>
            <a:r>
              <a:rPr lang="en-US" sz="3400" b="1" dirty="0">
                <a:solidFill>
                  <a:schemeClr val="tx1"/>
                </a:solidFill>
              </a:rPr>
              <a:t>The team</a:t>
            </a:r>
            <a:endParaRPr lang="en-US" sz="3400" dirty="0"/>
          </a:p>
        </p:txBody>
      </p:sp>
      <p:sp>
        <p:nvSpPr>
          <p:cNvPr id="3" name="Team circle 1"/>
          <p:cNvSpPr/>
          <p:nvPr/>
        </p:nvSpPr>
        <p:spPr>
          <a:xfrm>
            <a:off x="960120" y="1371600"/>
            <a:ext cx="731520" cy="731520"/>
          </a:xfrm>
          <a:prstGeom prst="ellipse">
            <a:avLst/>
          </a:prstGeom>
          <a:solidFill>
            <a:schemeClr val="accent1"/>
          </a:solidFill>
          <a:ln/>
        </p:spPr>
      </p:sp>
      <p:pic>
        <p:nvPicPr>
          <p:cNvPr id="4" name="Team icon 1" descr="Team member 1">    </p:cNvPr>
          <p:cNvPicPr>
            <a:picLocks noChangeAspect="1"/>
          </p:cNvPicPr>
          <p:nvPr/>
        </p:nvPicPr>
        <p:blipFill>
          <a:blip r:embed="rId1"/>
          <a:stretch>
            <a:fillRect/>
          </a:stretch>
        </p:blipFill>
        <p:spPr>
          <a:xfrm>
            <a:off x="1207008" y="1618488"/>
            <a:ext cx="237744" cy="237744"/>
          </a:xfrm>
          <a:prstGeom prst="rect">
            <a:avLst/>
          </a:prstGeom>
        </p:spPr>
      </p:pic>
      <p:sp>
        <p:nvSpPr>
          <p:cNvPr id="5" name="Team name 1"/>
          <p:cNvSpPr txBox="1"/>
          <p:nvPr/>
        </p:nvSpPr>
        <p:spPr>
          <a:xfrm>
            <a:off x="640080" y="2286000"/>
            <a:ext cx="1371600" cy="365760"/>
          </a:xfrm>
          <a:prstGeom prst="rect">
            <a:avLst/>
          </a:prstGeom>
          <a:noFill/>
          <a:ln/>
        </p:spPr>
        <p:txBody>
          <a:bodyPr wrap="square" lIns="0" tIns="0" rIns="0" bIns="0" rtlCol="0" anchor="t"/>
          <a:lstStyle/>
          <a:p>
            <a:pPr algn="ctr" indent="0" marL="0">
              <a:buNone/>
            </a:pPr>
            <a:r>
              <a:rPr lang="en-US" sz="1800" b="1" i="1" dirty="0">
                <a:solidFill>
                  <a:schemeClr val="accent6"/>
                </a:solidFill>
              </a:rPr>
              <a:t>[Name]</a:t>
            </a:r>
            <a:endParaRPr lang="en-US" sz="1800" dirty="0"/>
          </a:p>
        </p:txBody>
      </p:sp>
      <p:sp>
        <p:nvSpPr>
          <p:cNvPr id="6" name="Team role 1"/>
          <p:cNvSpPr txBox="1"/>
          <p:nvPr/>
        </p:nvSpPr>
        <p:spPr>
          <a:xfrm>
            <a:off x="640080" y="2697480"/>
            <a:ext cx="1371600" cy="548640"/>
          </a:xfrm>
          <a:prstGeom prst="rect">
            <a:avLst/>
          </a:prstGeom>
          <a:noFill/>
          <a:ln/>
        </p:spPr>
        <p:txBody>
          <a:bodyPr wrap="square" lIns="0" tIns="0" rIns="0" bIns="0" rtlCol="0" anchor="t"/>
          <a:lstStyle/>
          <a:p>
            <a:pPr algn="ctr" indent="0" marL="0">
              <a:buNone/>
            </a:pPr>
            <a:r>
              <a:rPr lang="en-US" sz="1600" dirty="0">
                <a:solidFill>
                  <a:schemeClr val="tx1"/>
                </a:solidFill>
              </a:rPr>
              <a:t>Team lead</a:t>
            </a:r>
            <a:endParaRPr lang="en-US" sz="1600" dirty="0"/>
          </a:p>
        </p:txBody>
      </p:sp>
      <p:sp>
        <p:nvSpPr>
          <p:cNvPr id="7" name="Team circle 2"/>
          <p:cNvSpPr/>
          <p:nvPr/>
        </p:nvSpPr>
        <p:spPr>
          <a:xfrm>
            <a:off x="2560320" y="1371600"/>
            <a:ext cx="731520" cy="731520"/>
          </a:xfrm>
          <a:prstGeom prst="ellipse">
            <a:avLst/>
          </a:prstGeom>
          <a:solidFill>
            <a:schemeClr val="accent1"/>
          </a:solidFill>
          <a:ln/>
        </p:spPr>
      </p:sp>
      <p:pic>
        <p:nvPicPr>
          <p:cNvPr id="8" name="Team icon 2" descr="Team member 2">    </p:cNvPr>
          <p:cNvPicPr>
            <a:picLocks noChangeAspect="1"/>
          </p:cNvPicPr>
          <p:nvPr/>
        </p:nvPicPr>
        <p:blipFill>
          <a:blip r:embed="rId2"/>
          <a:stretch>
            <a:fillRect/>
          </a:stretch>
        </p:blipFill>
        <p:spPr>
          <a:xfrm>
            <a:off x="2807208" y="1618488"/>
            <a:ext cx="237744" cy="237744"/>
          </a:xfrm>
          <a:prstGeom prst="rect">
            <a:avLst/>
          </a:prstGeom>
        </p:spPr>
      </p:pic>
      <p:sp>
        <p:nvSpPr>
          <p:cNvPr id="9" name="Team name 2"/>
          <p:cNvSpPr txBox="1"/>
          <p:nvPr/>
        </p:nvSpPr>
        <p:spPr>
          <a:xfrm>
            <a:off x="2240280" y="2286000"/>
            <a:ext cx="1371600" cy="365760"/>
          </a:xfrm>
          <a:prstGeom prst="rect">
            <a:avLst/>
          </a:prstGeom>
          <a:noFill/>
          <a:ln/>
        </p:spPr>
        <p:txBody>
          <a:bodyPr wrap="square" lIns="0" tIns="0" rIns="0" bIns="0" rtlCol="0" anchor="t"/>
          <a:lstStyle/>
          <a:p>
            <a:pPr algn="ctr" indent="0" marL="0">
              <a:buNone/>
            </a:pPr>
            <a:r>
              <a:rPr lang="en-US" sz="1800" b="1" i="1" dirty="0">
                <a:solidFill>
                  <a:schemeClr val="accent6"/>
                </a:solidFill>
              </a:rPr>
              <a:t>[Name]</a:t>
            </a:r>
            <a:endParaRPr lang="en-US" sz="1800" dirty="0"/>
          </a:p>
        </p:txBody>
      </p:sp>
      <p:sp>
        <p:nvSpPr>
          <p:cNvPr id="10" name="Team role 2"/>
          <p:cNvSpPr txBox="1"/>
          <p:nvPr/>
        </p:nvSpPr>
        <p:spPr>
          <a:xfrm>
            <a:off x="2240280" y="2697480"/>
            <a:ext cx="1371600" cy="548640"/>
          </a:xfrm>
          <a:prstGeom prst="rect">
            <a:avLst/>
          </a:prstGeom>
          <a:noFill/>
          <a:ln/>
        </p:spPr>
        <p:txBody>
          <a:bodyPr wrap="square" lIns="0" tIns="0" rIns="0" bIns="0" rtlCol="0" anchor="t"/>
          <a:lstStyle/>
          <a:p>
            <a:pPr algn="ctr" indent="0" marL="0">
              <a:buNone/>
            </a:pPr>
            <a:r>
              <a:rPr lang="en-US" sz="1600" dirty="0">
                <a:solidFill>
                  <a:schemeClr val="tx1"/>
                </a:solidFill>
              </a:rPr>
              <a:t>Frontend</a:t>
            </a:r>
            <a:endParaRPr lang="en-US" sz="1600" dirty="0"/>
          </a:p>
        </p:txBody>
      </p:sp>
      <p:sp>
        <p:nvSpPr>
          <p:cNvPr id="11" name="Team circle 3"/>
          <p:cNvSpPr/>
          <p:nvPr/>
        </p:nvSpPr>
        <p:spPr>
          <a:xfrm>
            <a:off x="4160520" y="1371600"/>
            <a:ext cx="731520" cy="731520"/>
          </a:xfrm>
          <a:prstGeom prst="ellipse">
            <a:avLst/>
          </a:prstGeom>
          <a:solidFill>
            <a:schemeClr val="accent1"/>
          </a:solidFill>
          <a:ln/>
        </p:spPr>
      </p:sp>
      <p:pic>
        <p:nvPicPr>
          <p:cNvPr id="12" name="Team icon 3" descr="Team member 3">    </p:cNvPr>
          <p:cNvPicPr>
            <a:picLocks noChangeAspect="1"/>
          </p:cNvPicPr>
          <p:nvPr/>
        </p:nvPicPr>
        <p:blipFill>
          <a:blip r:embed="rId3"/>
          <a:stretch>
            <a:fillRect/>
          </a:stretch>
        </p:blipFill>
        <p:spPr>
          <a:xfrm>
            <a:off x="4407408" y="1618488"/>
            <a:ext cx="237744" cy="237744"/>
          </a:xfrm>
          <a:prstGeom prst="rect">
            <a:avLst/>
          </a:prstGeom>
        </p:spPr>
      </p:pic>
      <p:sp>
        <p:nvSpPr>
          <p:cNvPr id="13" name="Team name 3"/>
          <p:cNvSpPr txBox="1"/>
          <p:nvPr/>
        </p:nvSpPr>
        <p:spPr>
          <a:xfrm>
            <a:off x="3840480" y="2286000"/>
            <a:ext cx="1371600" cy="365760"/>
          </a:xfrm>
          <a:prstGeom prst="rect">
            <a:avLst/>
          </a:prstGeom>
          <a:noFill/>
          <a:ln/>
        </p:spPr>
        <p:txBody>
          <a:bodyPr wrap="square" lIns="0" tIns="0" rIns="0" bIns="0" rtlCol="0" anchor="t"/>
          <a:lstStyle/>
          <a:p>
            <a:pPr algn="ctr" indent="0" marL="0">
              <a:buNone/>
            </a:pPr>
            <a:r>
              <a:rPr lang="en-US" sz="1800" b="1" i="1" dirty="0">
                <a:solidFill>
                  <a:schemeClr val="accent6"/>
                </a:solidFill>
              </a:rPr>
              <a:t>[Name]</a:t>
            </a:r>
            <a:endParaRPr lang="en-US" sz="1800" dirty="0"/>
          </a:p>
        </p:txBody>
      </p:sp>
      <p:sp>
        <p:nvSpPr>
          <p:cNvPr id="14" name="Team role 3"/>
          <p:cNvSpPr txBox="1"/>
          <p:nvPr/>
        </p:nvSpPr>
        <p:spPr>
          <a:xfrm>
            <a:off x="3840480" y="2697480"/>
            <a:ext cx="1371600" cy="548640"/>
          </a:xfrm>
          <a:prstGeom prst="rect">
            <a:avLst/>
          </a:prstGeom>
          <a:noFill/>
          <a:ln/>
        </p:spPr>
        <p:txBody>
          <a:bodyPr wrap="square" lIns="0" tIns="0" rIns="0" bIns="0" rtlCol="0" anchor="t"/>
          <a:lstStyle/>
          <a:p>
            <a:pPr algn="ctr" indent="0" marL="0">
              <a:buNone/>
            </a:pPr>
            <a:r>
              <a:rPr lang="en-US" sz="1600" dirty="0">
                <a:solidFill>
                  <a:schemeClr val="tx1"/>
                </a:solidFill>
              </a:rPr>
              <a:t>Backend</a:t>
            </a:r>
            <a:endParaRPr lang="en-US" sz="1600" dirty="0"/>
          </a:p>
        </p:txBody>
      </p:sp>
      <p:sp>
        <p:nvSpPr>
          <p:cNvPr id="15" name="Team circle 4"/>
          <p:cNvSpPr/>
          <p:nvPr/>
        </p:nvSpPr>
        <p:spPr>
          <a:xfrm>
            <a:off x="5760720" y="1371600"/>
            <a:ext cx="731520" cy="731520"/>
          </a:xfrm>
          <a:prstGeom prst="ellipse">
            <a:avLst/>
          </a:prstGeom>
          <a:solidFill>
            <a:schemeClr val="accent1"/>
          </a:solidFill>
          <a:ln/>
        </p:spPr>
      </p:sp>
      <p:pic>
        <p:nvPicPr>
          <p:cNvPr id="16" name="Team icon 4" descr="Team member 4">    </p:cNvPr>
          <p:cNvPicPr>
            <a:picLocks noChangeAspect="1"/>
          </p:cNvPicPr>
          <p:nvPr/>
        </p:nvPicPr>
        <p:blipFill>
          <a:blip r:embed="rId4"/>
          <a:stretch>
            <a:fillRect/>
          </a:stretch>
        </p:blipFill>
        <p:spPr>
          <a:xfrm>
            <a:off x="6007608" y="1618488"/>
            <a:ext cx="237744" cy="237744"/>
          </a:xfrm>
          <a:prstGeom prst="rect">
            <a:avLst/>
          </a:prstGeom>
        </p:spPr>
      </p:pic>
      <p:sp>
        <p:nvSpPr>
          <p:cNvPr id="17" name="Team name 4"/>
          <p:cNvSpPr txBox="1"/>
          <p:nvPr/>
        </p:nvSpPr>
        <p:spPr>
          <a:xfrm>
            <a:off x="5440680" y="2286000"/>
            <a:ext cx="1371600" cy="365760"/>
          </a:xfrm>
          <a:prstGeom prst="rect">
            <a:avLst/>
          </a:prstGeom>
          <a:noFill/>
          <a:ln/>
        </p:spPr>
        <p:txBody>
          <a:bodyPr wrap="square" lIns="0" tIns="0" rIns="0" bIns="0" rtlCol="0" anchor="t"/>
          <a:lstStyle/>
          <a:p>
            <a:pPr algn="ctr" indent="0" marL="0">
              <a:buNone/>
            </a:pPr>
            <a:r>
              <a:rPr lang="en-US" sz="1800" b="1" i="1" dirty="0">
                <a:solidFill>
                  <a:schemeClr val="accent6"/>
                </a:solidFill>
              </a:rPr>
              <a:t>[Name]</a:t>
            </a:r>
            <a:endParaRPr lang="en-US" sz="1800" dirty="0"/>
          </a:p>
        </p:txBody>
      </p:sp>
      <p:sp>
        <p:nvSpPr>
          <p:cNvPr id="18" name="Team role 4"/>
          <p:cNvSpPr txBox="1"/>
          <p:nvPr/>
        </p:nvSpPr>
        <p:spPr>
          <a:xfrm>
            <a:off x="5440680" y="2697480"/>
            <a:ext cx="1371600" cy="548640"/>
          </a:xfrm>
          <a:prstGeom prst="rect">
            <a:avLst/>
          </a:prstGeom>
          <a:noFill/>
          <a:ln/>
        </p:spPr>
        <p:txBody>
          <a:bodyPr wrap="square" lIns="0" tIns="0" rIns="0" bIns="0" rtlCol="0" anchor="t"/>
          <a:lstStyle/>
          <a:p>
            <a:pPr algn="ctr" indent="0" marL="0">
              <a:buNone/>
            </a:pPr>
            <a:r>
              <a:rPr lang="en-US" sz="1600" dirty="0">
                <a:solidFill>
                  <a:schemeClr val="tx1"/>
                </a:solidFill>
              </a:rPr>
              <a:t>Document analysis</a:t>
            </a:r>
            <a:endParaRPr lang="en-US" sz="1600" dirty="0"/>
          </a:p>
        </p:txBody>
      </p:sp>
      <p:sp>
        <p:nvSpPr>
          <p:cNvPr id="19" name="Team circle 5"/>
          <p:cNvSpPr/>
          <p:nvPr/>
        </p:nvSpPr>
        <p:spPr>
          <a:xfrm>
            <a:off x="7360920" y="1371600"/>
            <a:ext cx="731520" cy="731520"/>
          </a:xfrm>
          <a:prstGeom prst="ellipse">
            <a:avLst/>
          </a:prstGeom>
          <a:solidFill>
            <a:schemeClr val="accent1"/>
          </a:solidFill>
          <a:ln/>
        </p:spPr>
      </p:sp>
      <p:pic>
        <p:nvPicPr>
          <p:cNvPr id="20" name="Team icon 5" descr="Team member 5">    </p:cNvPr>
          <p:cNvPicPr>
            <a:picLocks noChangeAspect="1"/>
          </p:cNvPicPr>
          <p:nvPr/>
        </p:nvPicPr>
        <p:blipFill>
          <a:blip r:embed="rId5"/>
          <a:stretch>
            <a:fillRect/>
          </a:stretch>
        </p:blipFill>
        <p:spPr>
          <a:xfrm>
            <a:off x="7607808" y="1618488"/>
            <a:ext cx="237744" cy="237744"/>
          </a:xfrm>
          <a:prstGeom prst="rect">
            <a:avLst/>
          </a:prstGeom>
        </p:spPr>
      </p:pic>
      <p:sp>
        <p:nvSpPr>
          <p:cNvPr id="21" name="Team name 5"/>
          <p:cNvSpPr txBox="1"/>
          <p:nvPr/>
        </p:nvSpPr>
        <p:spPr>
          <a:xfrm>
            <a:off x="7040880" y="2286000"/>
            <a:ext cx="1371600" cy="365760"/>
          </a:xfrm>
          <a:prstGeom prst="rect">
            <a:avLst/>
          </a:prstGeom>
          <a:noFill/>
          <a:ln/>
        </p:spPr>
        <p:txBody>
          <a:bodyPr wrap="square" lIns="0" tIns="0" rIns="0" bIns="0" rtlCol="0" anchor="t"/>
          <a:lstStyle/>
          <a:p>
            <a:pPr algn="ctr" indent="0" marL="0">
              <a:buNone/>
            </a:pPr>
            <a:r>
              <a:rPr lang="en-US" sz="1800" b="1" i="1" dirty="0">
                <a:solidFill>
                  <a:schemeClr val="accent6"/>
                </a:solidFill>
              </a:rPr>
              <a:t>[Name]</a:t>
            </a:r>
            <a:endParaRPr lang="en-US" sz="1800" dirty="0"/>
          </a:p>
        </p:txBody>
      </p:sp>
      <p:sp>
        <p:nvSpPr>
          <p:cNvPr id="22" name="Team role 5"/>
          <p:cNvSpPr txBox="1"/>
          <p:nvPr/>
        </p:nvSpPr>
        <p:spPr>
          <a:xfrm>
            <a:off x="7040880" y="2697480"/>
            <a:ext cx="1371600" cy="548640"/>
          </a:xfrm>
          <a:prstGeom prst="rect">
            <a:avLst/>
          </a:prstGeom>
          <a:noFill/>
          <a:ln/>
        </p:spPr>
        <p:txBody>
          <a:bodyPr wrap="square" lIns="0" tIns="0" rIns="0" bIns="0" rtlCol="0" anchor="t"/>
          <a:lstStyle/>
          <a:p>
            <a:pPr algn="ctr" indent="0" marL="0">
              <a:buNone/>
            </a:pPr>
            <a:r>
              <a:rPr lang="en-US" sz="1600" dirty="0">
                <a:solidFill>
                  <a:schemeClr val="tx1"/>
                </a:solidFill>
              </a:rPr>
              <a:t>Model catalog</a:t>
            </a:r>
            <a:endParaRPr lang="en-US" sz="1600" dirty="0"/>
          </a:p>
        </p:txBody>
      </p:sp>
      <p:sp>
        <p:nvSpPr>
          <p:cNvPr id="23" name="Why us"/>
          <p:cNvSpPr txBox="1"/>
          <p:nvPr/>
        </p:nvSpPr>
        <p:spPr>
          <a:xfrm>
            <a:off x="640080" y="3749040"/>
            <a:ext cx="7863840" cy="457200"/>
          </a:xfrm>
          <a:prstGeom prst="rect">
            <a:avLst/>
          </a:prstGeom>
          <a:noFill/>
          <a:ln/>
        </p:spPr>
        <p:txBody>
          <a:bodyPr wrap="square" lIns="0" tIns="0" rIns="0" bIns="0" rtlCol="0" anchor="t"/>
          <a:lstStyle/>
          <a:p>
            <a:pPr indent="0" marL="0">
              <a:buNone/>
            </a:pPr>
            <a:r>
              <a:rPr lang="en-US" sz="1800" i="1" dirty="0">
                <a:solidFill>
                  <a:schemeClr val="accent6"/>
                </a:solidFill>
              </a:rPr>
              <a:t>[One line: why this team is right for this problem]</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sk label"/>
          <p:cNvSpPr txBox="1"/>
          <p:nvPr/>
        </p:nvSpPr>
        <p:spPr>
          <a:xfrm>
            <a:off x="640080" y="457200"/>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What we need</a:t>
            </a:r>
            <a:endParaRPr lang="en-US" sz="1600" dirty="0"/>
          </a:p>
        </p:txBody>
      </p:sp>
      <p:sp>
        <p:nvSpPr>
          <p:cNvPr id="3" name="Ask figure"/>
          <p:cNvSpPr txBox="1"/>
          <p:nvPr/>
        </p:nvSpPr>
        <p:spPr>
          <a:xfrm>
            <a:off x="640080" y="822960"/>
            <a:ext cx="3840480" cy="1097280"/>
          </a:xfrm>
          <a:prstGeom prst="rect">
            <a:avLst/>
          </a:prstGeom>
          <a:noFill/>
          <a:ln/>
        </p:spPr>
        <p:txBody>
          <a:bodyPr wrap="square" lIns="0" tIns="0" rIns="0" bIns="0" rtlCol="0" anchor="t"/>
          <a:lstStyle/>
          <a:p>
            <a:pPr indent="0" marL="0">
              <a:buNone/>
            </a:pPr>
            <a:r>
              <a:rPr lang="en-US" sz="7200" b="1" dirty="0">
                <a:solidFill>
                  <a:schemeClr val="bg1"/>
                </a:solidFill>
                <a:latin typeface="+mj-lt" pitchFamily="34" charset="0"/>
                <a:ea typeface="+mj-lt" pitchFamily="34" charset="-122"/>
                <a:cs typeface="+mj-lt" pitchFamily="34" charset="-120"/>
              </a:rPr>
              <a:t>$365</a:t>
            </a:r>
            <a:endParaRPr lang="en-US" sz="7200" dirty="0"/>
          </a:p>
        </p:txBody>
      </p:sp>
      <p:sp>
        <p:nvSpPr>
          <p:cNvPr id="4" name="Ask sentence"/>
          <p:cNvSpPr txBox="1"/>
          <p:nvPr/>
        </p:nvSpPr>
        <p:spPr>
          <a:xfrm>
            <a:off x="640080" y="1965960"/>
            <a:ext cx="3840480" cy="457200"/>
          </a:xfrm>
          <a:prstGeom prst="rect">
            <a:avLst/>
          </a:prstGeom>
          <a:noFill/>
          <a:ln/>
        </p:spPr>
        <p:txBody>
          <a:bodyPr wrap="square" lIns="0" tIns="0" rIns="0" bIns="0" rtlCol="0" anchor="t"/>
          <a:lstStyle/>
          <a:p>
            <a:pPr indent="0" marL="0">
              <a:buNone/>
            </a:pPr>
            <a:r>
              <a:rPr lang="en-US" sz="2000" dirty="0">
                <a:solidFill>
                  <a:schemeClr val="bg2"/>
                </a:solidFill>
              </a:rPr>
              <a:t>to build the MVP in 10 weeks</a:t>
            </a:r>
            <a:endParaRPr lang="en-US" sz="2000" dirty="0"/>
          </a:p>
        </p:txBody>
      </p:sp>
      <p:sp>
        <p:nvSpPr>
          <p:cNvPr id="5" name="Use amount 1"/>
          <p:cNvSpPr txBox="1"/>
          <p:nvPr/>
        </p:nvSpPr>
        <p:spPr>
          <a:xfrm>
            <a:off x="640080" y="2788920"/>
            <a:ext cx="914400" cy="365760"/>
          </a:xfrm>
          <a:prstGeom prst="rect">
            <a:avLst/>
          </a:prstGeom>
          <a:noFill/>
          <a:ln/>
        </p:spPr>
        <p:txBody>
          <a:bodyPr wrap="square" lIns="0" tIns="0" rIns="0" bIns="0" rtlCol="0" anchor="ctr"/>
          <a:lstStyle/>
          <a:p>
            <a:pPr indent="0" marL="0">
              <a:buNone/>
            </a:pPr>
            <a:r>
              <a:rPr lang="en-US" sz="2000" b="1" dirty="0">
                <a:solidFill>
                  <a:schemeClr val="accent2"/>
                </a:solidFill>
              </a:rPr>
              <a:t>$250</a:t>
            </a:r>
            <a:endParaRPr lang="en-US" sz="2000" dirty="0"/>
          </a:p>
        </p:txBody>
      </p:sp>
      <p:sp>
        <p:nvSpPr>
          <p:cNvPr id="6" name="Use label 1"/>
          <p:cNvSpPr txBox="1"/>
          <p:nvPr/>
        </p:nvSpPr>
        <p:spPr>
          <a:xfrm>
            <a:off x="1600200" y="2788920"/>
            <a:ext cx="2834640" cy="365760"/>
          </a:xfrm>
          <a:prstGeom prst="rect">
            <a:avLst/>
          </a:prstGeom>
          <a:noFill/>
          <a:ln/>
        </p:spPr>
        <p:txBody>
          <a:bodyPr wrap="square" lIns="0" tIns="0" rIns="0" bIns="0" rtlCol="0" anchor="ctr"/>
          <a:lstStyle/>
          <a:p>
            <a:pPr indent="0" marL="0">
              <a:buNone/>
            </a:pPr>
            <a:r>
              <a:rPr lang="en-US" sz="1800" dirty="0">
                <a:solidFill>
                  <a:schemeClr val="bg1"/>
                </a:solidFill>
              </a:rPr>
              <a:t>AI credits</a:t>
            </a:r>
            <a:endParaRPr lang="en-US" sz="1800" dirty="0"/>
          </a:p>
        </p:txBody>
      </p:sp>
      <p:sp>
        <p:nvSpPr>
          <p:cNvPr id="7" name="Use amount 2"/>
          <p:cNvSpPr txBox="1"/>
          <p:nvPr/>
        </p:nvSpPr>
        <p:spPr>
          <a:xfrm>
            <a:off x="640080" y="3246120"/>
            <a:ext cx="914400" cy="365760"/>
          </a:xfrm>
          <a:prstGeom prst="rect">
            <a:avLst/>
          </a:prstGeom>
          <a:noFill/>
          <a:ln/>
        </p:spPr>
        <p:txBody>
          <a:bodyPr wrap="square" lIns="0" tIns="0" rIns="0" bIns="0" rtlCol="0" anchor="ctr"/>
          <a:lstStyle/>
          <a:p>
            <a:pPr indent="0" marL="0">
              <a:buNone/>
            </a:pPr>
            <a:r>
              <a:rPr lang="en-US" sz="2000" b="1" dirty="0">
                <a:solidFill>
                  <a:schemeClr val="accent2"/>
                </a:solidFill>
              </a:rPr>
              <a:t>$100</a:t>
            </a:r>
            <a:endParaRPr lang="en-US" sz="2000" dirty="0"/>
          </a:p>
        </p:txBody>
      </p:sp>
      <p:sp>
        <p:nvSpPr>
          <p:cNvPr id="8" name="Use label 2"/>
          <p:cNvSpPr txBox="1"/>
          <p:nvPr/>
        </p:nvSpPr>
        <p:spPr>
          <a:xfrm>
            <a:off x="1600200" y="3246120"/>
            <a:ext cx="2834640" cy="365760"/>
          </a:xfrm>
          <a:prstGeom prst="rect">
            <a:avLst/>
          </a:prstGeom>
          <a:noFill/>
          <a:ln/>
        </p:spPr>
        <p:txBody>
          <a:bodyPr wrap="square" lIns="0" tIns="0" rIns="0" bIns="0" rtlCol="0" anchor="ctr"/>
          <a:lstStyle/>
          <a:p>
            <a:pPr indent="0" marL="0">
              <a:buNone/>
            </a:pPr>
            <a:r>
              <a:rPr lang="en-US" sz="1800" dirty="0">
                <a:solidFill>
                  <a:schemeClr val="bg1"/>
                </a:solidFill>
              </a:rPr>
              <a:t>Buffer</a:t>
            </a:r>
            <a:endParaRPr lang="en-US" sz="1800" dirty="0"/>
          </a:p>
        </p:txBody>
      </p:sp>
      <p:sp>
        <p:nvSpPr>
          <p:cNvPr id="9" name="Use amount 3"/>
          <p:cNvSpPr txBox="1"/>
          <p:nvPr/>
        </p:nvSpPr>
        <p:spPr>
          <a:xfrm>
            <a:off x="640080" y="3703320"/>
            <a:ext cx="914400" cy="365760"/>
          </a:xfrm>
          <a:prstGeom prst="rect">
            <a:avLst/>
          </a:prstGeom>
          <a:noFill/>
          <a:ln/>
        </p:spPr>
        <p:txBody>
          <a:bodyPr wrap="square" lIns="0" tIns="0" rIns="0" bIns="0" rtlCol="0" anchor="ctr"/>
          <a:lstStyle/>
          <a:p>
            <a:pPr indent="0" marL="0">
              <a:buNone/>
            </a:pPr>
            <a:r>
              <a:rPr lang="en-US" sz="2000" b="1" dirty="0">
                <a:solidFill>
                  <a:schemeClr val="accent2"/>
                </a:solidFill>
              </a:rPr>
              <a:t>$15</a:t>
            </a:r>
            <a:endParaRPr lang="en-US" sz="2000" dirty="0"/>
          </a:p>
        </p:txBody>
      </p:sp>
      <p:sp>
        <p:nvSpPr>
          <p:cNvPr id="10" name="Use label 3"/>
          <p:cNvSpPr txBox="1"/>
          <p:nvPr/>
        </p:nvSpPr>
        <p:spPr>
          <a:xfrm>
            <a:off x="1600200" y="3703320"/>
            <a:ext cx="2834640" cy="365760"/>
          </a:xfrm>
          <a:prstGeom prst="rect">
            <a:avLst/>
          </a:prstGeom>
          <a:noFill/>
          <a:ln/>
        </p:spPr>
        <p:txBody>
          <a:bodyPr wrap="square" lIns="0" tIns="0" rIns="0" bIns="0" rtlCol="0" anchor="ctr"/>
          <a:lstStyle/>
          <a:p>
            <a:pPr indent="0" marL="0">
              <a:buNone/>
            </a:pPr>
            <a:r>
              <a:rPr lang="en-US" sz="1800" dirty="0">
                <a:solidFill>
                  <a:schemeClr val="bg1"/>
                </a:solidFill>
              </a:rPr>
              <a:t>Domain name</a:t>
            </a:r>
            <a:endParaRPr lang="en-US" sz="1800" dirty="0"/>
          </a:p>
        </p:txBody>
      </p:sp>
      <p:sp>
        <p:nvSpPr>
          <p:cNvPr id="11" name="Milestone when 1"/>
          <p:cNvSpPr txBox="1"/>
          <p:nvPr/>
        </p:nvSpPr>
        <p:spPr>
          <a:xfrm>
            <a:off x="4937760" y="822960"/>
            <a:ext cx="1371600" cy="640080"/>
          </a:xfrm>
          <a:prstGeom prst="rect">
            <a:avLst/>
          </a:prstGeom>
          <a:noFill/>
          <a:ln/>
        </p:spPr>
        <p:txBody>
          <a:bodyPr wrap="square" lIns="0" tIns="0" rIns="0" bIns="0" rtlCol="0" anchor="ctr"/>
          <a:lstStyle/>
          <a:p>
            <a:pPr indent="0" marL="0">
              <a:buNone/>
            </a:pPr>
            <a:r>
              <a:rPr lang="en-US" sz="1800" b="1" dirty="0">
                <a:solidFill>
                  <a:schemeClr val="accent2"/>
                </a:solidFill>
              </a:rPr>
              <a:t>10 weeks</a:t>
            </a:r>
            <a:endParaRPr lang="en-US" sz="1800" dirty="0"/>
          </a:p>
        </p:txBody>
      </p:sp>
      <p:sp>
        <p:nvSpPr>
          <p:cNvPr id="12" name="Milestone what 1"/>
          <p:cNvSpPr txBox="1"/>
          <p:nvPr/>
        </p:nvSpPr>
        <p:spPr>
          <a:xfrm>
            <a:off x="6355080" y="822960"/>
            <a:ext cx="2514600" cy="640080"/>
          </a:xfrm>
          <a:prstGeom prst="rect">
            <a:avLst/>
          </a:prstGeom>
          <a:noFill/>
          <a:ln/>
        </p:spPr>
        <p:txBody>
          <a:bodyPr wrap="square" lIns="0" tIns="0" rIns="0" bIns="0" rtlCol="0" anchor="ctr"/>
          <a:lstStyle/>
          <a:p>
            <a:pPr indent="0" marL="0">
              <a:buNone/>
            </a:pPr>
            <a:r>
              <a:rPr lang="en-US" sz="1800" dirty="0">
                <a:solidFill>
                  <a:schemeClr val="bg1"/>
                </a:solidFill>
              </a:rPr>
              <a:t>Working MVP</a:t>
            </a:r>
            <a:endParaRPr lang="en-US" sz="1800" dirty="0"/>
          </a:p>
        </p:txBody>
      </p:sp>
      <p:sp>
        <p:nvSpPr>
          <p:cNvPr id="13" name="Milestone when 2"/>
          <p:cNvSpPr txBox="1"/>
          <p:nvPr/>
        </p:nvSpPr>
        <p:spPr>
          <a:xfrm>
            <a:off x="4937760" y="1600200"/>
            <a:ext cx="1371600" cy="640080"/>
          </a:xfrm>
          <a:prstGeom prst="rect">
            <a:avLst/>
          </a:prstGeom>
          <a:noFill/>
          <a:ln/>
        </p:spPr>
        <p:txBody>
          <a:bodyPr wrap="square" lIns="0" tIns="0" rIns="0" bIns="0" rtlCol="0" anchor="ctr"/>
          <a:lstStyle/>
          <a:p>
            <a:pPr indent="0" marL="0">
              <a:buNone/>
            </a:pPr>
            <a:r>
              <a:rPr lang="en-US" sz="1800" b="1" dirty="0">
                <a:solidFill>
                  <a:schemeClr val="accent2"/>
                </a:solidFill>
              </a:rPr>
              <a:t>Month 3</a:t>
            </a:r>
            <a:endParaRPr lang="en-US" sz="1800" dirty="0"/>
          </a:p>
        </p:txBody>
      </p:sp>
      <p:sp>
        <p:nvSpPr>
          <p:cNvPr id="14" name="Milestone what 2"/>
          <p:cNvSpPr txBox="1"/>
          <p:nvPr/>
        </p:nvSpPr>
        <p:spPr>
          <a:xfrm>
            <a:off x="6355080" y="1600200"/>
            <a:ext cx="2514600" cy="640080"/>
          </a:xfrm>
          <a:prstGeom prst="rect">
            <a:avLst/>
          </a:prstGeom>
          <a:noFill/>
          <a:ln/>
        </p:spPr>
        <p:txBody>
          <a:bodyPr wrap="square" lIns="0" tIns="0" rIns="0" bIns="0" rtlCol="0" anchor="ctr"/>
          <a:lstStyle/>
          <a:p>
            <a:pPr indent="0" marL="0">
              <a:buNone/>
            </a:pPr>
            <a:r>
              <a:rPr lang="en-US" sz="1800" dirty="0">
                <a:solidFill>
                  <a:schemeClr val="bg1"/>
                </a:solidFill>
              </a:rPr>
              <a:t>10 customers</a:t>
            </a:r>
            <a:endParaRPr lang="en-US" sz="1800" dirty="0"/>
          </a:p>
        </p:txBody>
      </p:sp>
      <p:sp>
        <p:nvSpPr>
          <p:cNvPr id="15" name="Milestone when 3"/>
          <p:cNvSpPr txBox="1"/>
          <p:nvPr/>
        </p:nvSpPr>
        <p:spPr>
          <a:xfrm>
            <a:off x="4937760" y="2377440"/>
            <a:ext cx="1371600" cy="640080"/>
          </a:xfrm>
          <a:prstGeom prst="rect">
            <a:avLst/>
          </a:prstGeom>
          <a:noFill/>
          <a:ln/>
        </p:spPr>
        <p:txBody>
          <a:bodyPr wrap="square" lIns="0" tIns="0" rIns="0" bIns="0" rtlCol="0" anchor="ctr"/>
          <a:lstStyle/>
          <a:p>
            <a:pPr indent="0" marL="0">
              <a:buNone/>
            </a:pPr>
            <a:r>
              <a:rPr lang="en-US" sz="1800" b="1" dirty="0">
                <a:solidFill>
                  <a:schemeClr val="accent2"/>
                </a:solidFill>
              </a:rPr>
              <a:t>Month 6</a:t>
            </a:r>
            <a:endParaRPr lang="en-US" sz="1800" dirty="0"/>
          </a:p>
        </p:txBody>
      </p:sp>
      <p:sp>
        <p:nvSpPr>
          <p:cNvPr id="16" name="Milestone what 3"/>
          <p:cNvSpPr txBox="1"/>
          <p:nvPr/>
        </p:nvSpPr>
        <p:spPr>
          <a:xfrm>
            <a:off x="6355080" y="2377440"/>
            <a:ext cx="2514600" cy="640080"/>
          </a:xfrm>
          <a:prstGeom prst="rect">
            <a:avLst/>
          </a:prstGeom>
          <a:noFill/>
          <a:ln/>
        </p:spPr>
        <p:txBody>
          <a:bodyPr wrap="square" lIns="0" tIns="0" rIns="0" bIns="0" rtlCol="0" anchor="ctr"/>
          <a:lstStyle/>
          <a:p>
            <a:pPr indent="0" marL="0">
              <a:buNone/>
            </a:pPr>
            <a:r>
              <a:rPr lang="en-US" sz="1800" dirty="0">
                <a:solidFill>
                  <a:schemeClr val="bg1"/>
                </a:solidFill>
              </a:rPr>
              <a:t>30 customers</a:t>
            </a:r>
            <a:endParaRPr lang="en-US" sz="1800" dirty="0"/>
          </a:p>
        </p:txBody>
      </p:sp>
      <p:sp>
        <p:nvSpPr>
          <p:cNvPr id="17" name="Milestone when 4"/>
          <p:cNvSpPr txBox="1"/>
          <p:nvPr/>
        </p:nvSpPr>
        <p:spPr>
          <a:xfrm>
            <a:off x="4937760" y="3154680"/>
            <a:ext cx="1371600" cy="640080"/>
          </a:xfrm>
          <a:prstGeom prst="rect">
            <a:avLst/>
          </a:prstGeom>
          <a:noFill/>
          <a:ln/>
        </p:spPr>
        <p:txBody>
          <a:bodyPr wrap="square" lIns="0" tIns="0" rIns="0" bIns="0" rtlCol="0" anchor="ctr"/>
          <a:lstStyle/>
          <a:p>
            <a:pPr indent="0" marL="0">
              <a:buNone/>
            </a:pPr>
            <a:r>
              <a:rPr lang="en-US" sz="1800" b="1" dirty="0">
                <a:solidFill>
                  <a:schemeClr val="accent2"/>
                </a:solidFill>
              </a:rPr>
              <a:t>Month 12</a:t>
            </a:r>
            <a:endParaRPr lang="en-US" sz="1800" dirty="0"/>
          </a:p>
        </p:txBody>
      </p:sp>
      <p:sp>
        <p:nvSpPr>
          <p:cNvPr id="18" name="Milestone what 4"/>
          <p:cNvSpPr txBox="1"/>
          <p:nvPr/>
        </p:nvSpPr>
        <p:spPr>
          <a:xfrm>
            <a:off x="6355080" y="3154680"/>
            <a:ext cx="2514600" cy="640080"/>
          </a:xfrm>
          <a:prstGeom prst="rect">
            <a:avLst/>
          </a:prstGeom>
          <a:noFill/>
          <a:ln/>
        </p:spPr>
        <p:txBody>
          <a:bodyPr wrap="square" lIns="0" tIns="0" rIns="0" bIns="0" rtlCol="0" anchor="ctr"/>
          <a:lstStyle/>
          <a:p>
            <a:pPr indent="0" marL="0">
              <a:buNone/>
            </a:pPr>
            <a:r>
              <a:rPr lang="en-US" sz="1800" dirty="0">
                <a:solidFill>
                  <a:schemeClr val="bg1"/>
                </a:solidFill>
              </a:rPr>
              <a:t>100 customers, $2,900 a month</a:t>
            </a:r>
            <a:endParaRPr lang="en-US" sz="1800" dirty="0"/>
          </a:p>
        </p:txBody>
      </p:sp>
      <p:sp>
        <p:nvSpPr>
          <p:cNvPr id="19" name="Next stage"/>
          <p:cNvSpPr txBox="1"/>
          <p:nvPr/>
        </p:nvSpPr>
        <p:spPr>
          <a:xfrm>
            <a:off x="4937760" y="4069080"/>
            <a:ext cx="3931920" cy="411480"/>
          </a:xfrm>
          <a:prstGeom prst="rect">
            <a:avLst/>
          </a:prstGeom>
          <a:noFill/>
          <a:ln/>
        </p:spPr>
        <p:txBody>
          <a:bodyPr wrap="square" lIns="0" tIns="0" rIns="0" bIns="0" rtlCol="0" anchor="t"/>
          <a:lstStyle/>
          <a:p>
            <a:pPr indent="0" marL="0">
              <a:buNone/>
            </a:pPr>
            <a:r>
              <a:rPr lang="en-US" sz="1800" b="1" dirty="0">
                <a:solidFill>
                  <a:schemeClr val="bg1"/>
                </a:solidFill>
              </a:rPr>
              <a:t>100 customers fund our next stage.</a:t>
            </a:r>
            <a:endParaRPr lang="en-US" sz="1800" dirty="0"/>
          </a:p>
        </p:txBody>
      </p:sp>
    </p:spTree>
  </p:cSld>
  <p:clrMapOvr>
    <a:masterClrMapping/>
  </p:clrMapOvr>
</p:sld>
</file>

<file path=ppt/theme/theme1.xml><?xml version="1.0" encoding="utf-8"?>
<a:theme xmlns:a="http://schemas.openxmlformats.org/drawingml/2006/main" name="BenchCraft">
  <a:themeElements>
    <a:clrScheme name="BenchCraft">
      <a:dk1>
        <a:srgbClr val="0A2E2B"/>
      </a:dk1>
      <a:lt1>
        <a:srgbClr val="FFFFFF"/>
      </a:lt1>
      <a:dk2>
        <a:srgbClr val="1D524C"/>
      </a:dk2>
      <a:lt2>
        <a:srgbClr val="EDF2EF"/>
      </a:lt2>
      <a:accent1>
        <a:srgbClr val="1F5C55"/>
      </a:accent1>
      <a:accent2>
        <a:srgbClr val="E7B44A"/>
      </a:accent2>
      <a:accent3>
        <a:srgbClr val="0A2E2B"/>
      </a:accent3>
      <a:accent4>
        <a:srgbClr val="4B605C"/>
      </a:accent4>
      <a:accent5>
        <a:srgbClr val="B87A14"/>
      </a:accent5>
      <a:accent6>
        <a:srgbClr val="8A5A0B"/>
      </a:accent6>
      <a:hlink>
        <a:srgbClr val="1F5C55"/>
      </a:hlink>
      <a:folHlink>
        <a:srgbClr val="4B605C"/>
      </a:folHlink>
    </a:clrScheme>
    <a:fontScheme name="BenchCra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BenchCraft Pitch</dc:title>
  <dc:subject>PptxGenJS Presentation</dc:subject>
  <dc:creator>BenchCraft Team</dc:creator>
  <cp:lastModifiedBy>BenchCraft Team</cp:lastModifiedBy>
  <cp:revision>1</cp:revision>
  <dcterms:created xsi:type="dcterms:W3CDTF">2026-10-18T10:25:04Z</dcterms:created>
  <dcterms:modified xsi:type="dcterms:W3CDTF">2026-10-18T10:25:04Z</dcterms:modified>
</cp:coreProperties>
</file>