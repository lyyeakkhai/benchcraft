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100608c-d910-f852-525e-8b368524e2ea}">
          <p14:sldIdLst>
            <p14:sldId id="256"/>
          </p14:sldIdLst>
        </p14:section>
        <p14:section name="Problem and solution" id="{82ccc0b0-8892-9756-f3cc-a3a5bb2eb929}">
          <p14:sldIdLst>
            <p14:sldId id="257"/>
            <p14:sldId id="258"/>
          </p14:sldIdLst>
        </p14:section>
        <p14:section name="Market and scope" id="{6e27523b-fb54-acf1-fc71-9a465282153e}">
          <p14:sldIdLst>
            <p14:sldId id="259"/>
            <p14:sldId id="260"/>
          </p14:sldIdLst>
        </p14:section>
        <p14:section name="Plan" id="{0e85d9d2-6634-b54f-6b64-f3cdd34558a0}">
          <p14:sldIdLst>
            <p14:sldId id="261"/>
            <p14:sldId id="262"/>
          </p14:sldIdLst>
        </p14:section>
        <p14:section name="Close" id="{76e9e574-183f-3ed1-e056-c2c4f134e2ca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20 seconds. Introduce BenchCraft in one sentence: upload data, pick models, compare in one click. The bars are an illustrative example of the side-by-side output users 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35 seconds. Data scientists, developers, and students keep rewriting the same loading, model setup, and metric code. The work is not analysis, and it repeats on every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40 seconds. Walk the four steps left to right. Stress that every model runs through the same pipeline on the same data, so the comparison is fair and repeatable.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30 seconds. Three groups share one need: fast model comparison without setting up an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35 seconds. We protect the core loop: upload, select, run, compare. Advanced features are deliberately postponed. The chips show the five Scrum epics that deliver this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35 seconds. Sprints 1 and 2 build the foundation and data loader. Sprints 3 and 4 add models and metrics. Sprint 5 delivers the dashboard and polish.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30 seconds. Three roles cover the work: frontend, data pipeline, ML evaluation. Everything is open source with free-tier hosting, so the budget is $0 to $500.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25 seconds. Repeat the hook, then the three next steps.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13716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BenchCraft</a:t>
            </a:r>
            <a:endParaRPr lang="en-US" sz="5400" dirty="0"/>
          </a:p>
        </p:txBody>
      </p:sp>
      <p:sp>
        <p:nvSpPr>
          <p:cNvPr id="3" name="Subtitle"/>
          <p:cNvSpPr txBox="1"/>
          <p:nvPr/>
        </p:nvSpPr>
        <p:spPr>
          <a:xfrm>
            <a:off x="640080" y="25146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Upload a dataset, pick your models, and compare results in one click.</a:t>
            </a:r>
            <a:endParaRPr lang="en-US" sz="2000" dirty="0"/>
          </a:p>
        </p:txBody>
      </p:sp>
      <p:sp>
        <p:nvSpPr>
          <p:cNvPr id="4" name="Context"/>
          <p:cNvSpPr txBox="1"/>
          <p:nvPr/>
        </p:nvSpPr>
        <p:spPr>
          <a:xfrm>
            <a:off x="64008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Project pitch  |  CADT DS G2</a:t>
            </a:r>
            <a:endParaRPr lang="en-US" sz="1400" dirty="0"/>
          </a:p>
        </p:txBody>
      </p:sp>
      <p:sp>
        <p:nvSpPr>
          <p:cNvPr id="5" name="Benchmark panel"/>
          <p:cNvSpPr/>
          <p:nvPr/>
        </p:nvSpPr>
        <p:spPr>
          <a:xfrm>
            <a:off x="5486400" y="1097280"/>
            <a:ext cx="3200400" cy="2926080"/>
          </a:xfrm>
          <a:prstGeom prst="roundRect">
            <a:avLst>
              <a:gd name="adj" fmla="val 3125"/>
            </a:avLst>
          </a:prstGeom>
          <a:solidFill>
            <a:schemeClr val="tx2"/>
          </a:solidFill>
          <a:ln/>
        </p:spPr>
      </p:sp>
      <p:sp>
        <p:nvSpPr>
          <p:cNvPr id="6" name="Panel title"/>
          <p:cNvSpPr txBox="1"/>
          <p:nvPr/>
        </p:nvSpPr>
        <p:spPr>
          <a:xfrm>
            <a:off x="5760720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F1-Score by model</a:t>
            </a:r>
            <a:endParaRPr lang="en-US" sz="1400" dirty="0"/>
          </a:p>
        </p:txBody>
      </p:sp>
      <p:sp>
        <p:nvSpPr>
          <p:cNvPr id="7" name="Bar label 1"/>
          <p:cNvSpPr txBox="1"/>
          <p:nvPr/>
        </p:nvSpPr>
        <p:spPr>
          <a:xfrm>
            <a:off x="5760720" y="16916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8" name="Bar 1"/>
          <p:cNvSpPr/>
          <p:nvPr/>
        </p:nvSpPr>
        <p:spPr>
          <a:xfrm>
            <a:off x="5760720" y="1947672"/>
            <a:ext cx="2413102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Bar value 1"/>
          <p:cNvSpPr txBox="1"/>
          <p:nvPr/>
        </p:nvSpPr>
        <p:spPr>
          <a:xfrm>
            <a:off x="5760720" y="1947672"/>
            <a:ext cx="23216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0.91</a:t>
            </a:r>
            <a:endParaRPr lang="en-US" sz="1200" dirty="0"/>
          </a:p>
        </p:txBody>
      </p:sp>
      <p:sp>
        <p:nvSpPr>
          <p:cNvPr id="10" name="Bar label 2"/>
          <p:cNvSpPr txBox="1"/>
          <p:nvPr/>
        </p:nvSpPr>
        <p:spPr>
          <a:xfrm>
            <a:off x="5760720" y="2377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SVM</a:t>
            </a:r>
            <a:endParaRPr lang="en-US" sz="1200" dirty="0"/>
          </a:p>
        </p:txBody>
      </p:sp>
      <p:sp>
        <p:nvSpPr>
          <p:cNvPr id="11" name="Bar 2"/>
          <p:cNvSpPr/>
          <p:nvPr/>
        </p:nvSpPr>
        <p:spPr>
          <a:xfrm>
            <a:off x="5760720" y="2633472"/>
            <a:ext cx="2333549" cy="274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Bar value 2"/>
          <p:cNvSpPr txBox="1"/>
          <p:nvPr/>
        </p:nvSpPr>
        <p:spPr>
          <a:xfrm>
            <a:off x="5760720" y="2633472"/>
            <a:ext cx="22421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0.88</a:t>
            </a:r>
            <a:endParaRPr lang="en-US" sz="1200" dirty="0"/>
          </a:p>
        </p:txBody>
      </p:sp>
      <p:sp>
        <p:nvSpPr>
          <p:cNvPr id="13" name="Bar label 3"/>
          <p:cNvSpPr txBox="1"/>
          <p:nvPr/>
        </p:nvSpPr>
        <p:spPr>
          <a:xfrm>
            <a:off x="5760720" y="30632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Logistic Regression</a:t>
            </a:r>
            <a:endParaRPr lang="en-US" sz="1200" dirty="0"/>
          </a:p>
        </p:txBody>
      </p:sp>
      <p:sp>
        <p:nvSpPr>
          <p:cNvPr id="14" name="Bar 3"/>
          <p:cNvSpPr/>
          <p:nvPr/>
        </p:nvSpPr>
        <p:spPr>
          <a:xfrm>
            <a:off x="5760720" y="3319272"/>
            <a:ext cx="2280514" cy="274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Bar value 3"/>
          <p:cNvSpPr txBox="1"/>
          <p:nvPr/>
        </p:nvSpPr>
        <p:spPr>
          <a:xfrm>
            <a:off x="5760720" y="3319272"/>
            <a:ext cx="21890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0.86</a:t>
            </a:r>
            <a:endParaRPr lang="en-US" sz="1200" dirty="0"/>
          </a:p>
        </p:txBody>
      </p:sp>
      <p:sp>
        <p:nvSpPr>
          <p:cNvPr id="16" name="Panel caption"/>
          <p:cNvSpPr txBox="1"/>
          <p:nvPr/>
        </p:nvSpPr>
        <p:spPr>
          <a:xfrm>
            <a:off x="5760720" y="3703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bg2"/>
                </a:solidFill>
              </a:rPr>
              <a:t>Illustrative example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Comparing models wastes hours</a:t>
            </a:r>
            <a:endParaRPr lang="en-US" sz="3000" dirty="0"/>
          </a:p>
        </p:txBody>
      </p:sp>
      <p:sp>
        <p:nvSpPr>
          <p:cNvPr id="3" name="Problem card 1"/>
          <p:cNvSpPr/>
          <p:nvPr/>
        </p:nvSpPr>
        <p:spPr>
          <a:xfrm>
            <a:off x="45720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4" name="Problem icon circle 1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roblem icon 1" descr="Loading da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274320" cy="274320"/>
          </a:xfrm>
          <a:prstGeom prst="rect">
            <a:avLst/>
          </a:prstGeom>
        </p:spPr>
      </p:pic>
      <p:sp>
        <p:nvSpPr>
          <p:cNvPr id="6" name="Problem head 1"/>
          <p:cNvSpPr txBox="1"/>
          <p:nvPr/>
        </p:nvSpPr>
        <p:spPr>
          <a:xfrm>
            <a:off x="1417320" y="1572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Loading data</a:t>
            </a:r>
            <a:endParaRPr lang="en-US" sz="1600" dirty="0"/>
          </a:p>
        </p:txBody>
      </p:sp>
      <p:sp>
        <p:nvSpPr>
          <p:cNvPr id="7" name="Problem desc 1"/>
          <p:cNvSpPr txBox="1"/>
          <p:nvPr/>
        </p:nvSpPr>
        <p:spPr>
          <a:xfrm>
            <a:off x="1417320" y="193852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Custom code for every new file format.</a:t>
            </a:r>
            <a:endParaRPr lang="en-US" sz="1400" dirty="0"/>
          </a:p>
        </p:txBody>
      </p:sp>
      <p:sp>
        <p:nvSpPr>
          <p:cNvPr id="8" name="Problem card 2"/>
          <p:cNvSpPr/>
          <p:nvPr/>
        </p:nvSpPr>
        <p:spPr>
          <a:xfrm>
            <a:off x="475488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9" name="Problem icon circle 2"/>
          <p:cNvSpPr/>
          <p:nvPr/>
        </p:nvSpPr>
        <p:spPr>
          <a:xfrm>
            <a:off x="498348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Problem icon 2" descr="Wiring mode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37360"/>
            <a:ext cx="274320" cy="274320"/>
          </a:xfrm>
          <a:prstGeom prst="rect">
            <a:avLst/>
          </a:prstGeom>
        </p:spPr>
      </p:pic>
      <p:sp>
        <p:nvSpPr>
          <p:cNvPr id="11" name="Problem head 2"/>
          <p:cNvSpPr txBox="1"/>
          <p:nvPr/>
        </p:nvSpPr>
        <p:spPr>
          <a:xfrm>
            <a:off x="5715000" y="1572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Wiring models</a:t>
            </a:r>
            <a:endParaRPr lang="en-US" sz="1600" dirty="0"/>
          </a:p>
        </p:txBody>
      </p:sp>
      <p:sp>
        <p:nvSpPr>
          <p:cNvPr id="12" name="Problem desc 2"/>
          <p:cNvSpPr txBox="1"/>
          <p:nvPr/>
        </p:nvSpPr>
        <p:spPr>
          <a:xfrm>
            <a:off x="5715000" y="193852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Each model set up by hand with its own parameters.</a:t>
            </a:r>
            <a:endParaRPr lang="en-US" sz="1400" dirty="0"/>
          </a:p>
        </p:txBody>
      </p:sp>
      <p:sp>
        <p:nvSpPr>
          <p:cNvPr id="13" name="Problem card 3"/>
          <p:cNvSpPr/>
          <p:nvPr/>
        </p:nvSpPr>
        <p:spPr>
          <a:xfrm>
            <a:off x="45720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4" name="Problem icon circle 3"/>
          <p:cNvSpPr/>
          <p:nvPr/>
        </p:nvSpPr>
        <p:spPr>
          <a:xfrm>
            <a:off x="685800" y="3200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Problem icon 3" descr="Scoring resul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37560"/>
            <a:ext cx="274320" cy="274320"/>
          </a:xfrm>
          <a:prstGeom prst="rect">
            <a:avLst/>
          </a:prstGeom>
        </p:spPr>
      </p:pic>
      <p:sp>
        <p:nvSpPr>
          <p:cNvPr id="16" name="Problem head 3"/>
          <p:cNvSpPr txBox="1"/>
          <p:nvPr/>
        </p:nvSpPr>
        <p:spPr>
          <a:xfrm>
            <a:off x="1417320" y="3172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Scoring results</a:t>
            </a:r>
            <a:endParaRPr lang="en-US" sz="1600" dirty="0"/>
          </a:p>
        </p:txBody>
      </p:sp>
      <p:sp>
        <p:nvSpPr>
          <p:cNvPr id="17" name="Problem desc 3"/>
          <p:cNvSpPr txBox="1"/>
          <p:nvPr/>
        </p:nvSpPr>
        <p:spPr>
          <a:xfrm>
            <a:off x="1417320" y="353872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Separate scripts for Accuracy, F1-Score, and RMSE.</a:t>
            </a:r>
            <a:endParaRPr lang="en-US" sz="1400" dirty="0"/>
          </a:p>
        </p:txBody>
      </p:sp>
      <p:sp>
        <p:nvSpPr>
          <p:cNvPr id="18" name="Problem card 4"/>
          <p:cNvSpPr/>
          <p:nvPr/>
        </p:nvSpPr>
        <p:spPr>
          <a:xfrm>
            <a:off x="475488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9" name="Problem icon circle 4"/>
          <p:cNvSpPr/>
          <p:nvPr/>
        </p:nvSpPr>
        <p:spPr>
          <a:xfrm>
            <a:off x="4983480" y="3200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Problem icon 4" descr="Repeating it al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337560"/>
            <a:ext cx="274320" cy="274320"/>
          </a:xfrm>
          <a:prstGeom prst="rect">
            <a:avLst/>
          </a:prstGeom>
        </p:spPr>
      </p:pic>
      <p:sp>
        <p:nvSpPr>
          <p:cNvPr id="21" name="Problem head 4"/>
          <p:cNvSpPr txBox="1"/>
          <p:nvPr/>
        </p:nvSpPr>
        <p:spPr>
          <a:xfrm>
            <a:off x="5715000" y="3172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Repeating it all</a:t>
            </a:r>
            <a:endParaRPr lang="en-US" sz="1600" dirty="0"/>
          </a:p>
        </p:txBody>
      </p:sp>
      <p:sp>
        <p:nvSpPr>
          <p:cNvPr id="22" name="Problem desc 4"/>
          <p:cNvSpPr txBox="1"/>
          <p:nvPr/>
        </p:nvSpPr>
        <p:spPr>
          <a:xfrm>
            <a:off x="5715000" y="353872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The same boilerplate returns on every project.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workflow from upload to insight</a:t>
            </a:r>
            <a:endParaRPr lang="en-US" sz="3000" dirty="0"/>
          </a:p>
        </p:txBody>
      </p:sp>
      <p:sp>
        <p:nvSpPr>
          <p:cNvPr id="3" name="Step circle 1"/>
          <p:cNvSpPr/>
          <p:nvPr/>
        </p:nvSpPr>
        <p:spPr>
          <a:xfrm>
            <a:off x="1051560" y="14173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Step icon 1" descr="1  Uplo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1627632"/>
            <a:ext cx="310896" cy="310896"/>
          </a:xfrm>
          <a:prstGeom prst="rect">
            <a:avLst/>
          </a:prstGeom>
        </p:spPr>
      </p:pic>
      <p:sp>
        <p:nvSpPr>
          <p:cNvPr id="5" name="Step arrow 1"/>
          <p:cNvSpPr/>
          <p:nvPr/>
        </p:nvSpPr>
        <p:spPr>
          <a:xfrm>
            <a:off x="1920240" y="1783080"/>
            <a:ext cx="109728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6" name="Step head 1"/>
          <p:cNvSpPr txBox="1"/>
          <p:nvPr/>
        </p:nvSpPr>
        <p:spPr>
          <a:xfrm>
            <a:off x="50292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  Upload</a:t>
            </a:r>
            <a:endParaRPr lang="en-US" sz="1800" dirty="0"/>
          </a:p>
        </p:txBody>
      </p:sp>
      <p:sp>
        <p:nvSpPr>
          <p:cNvPr id="7" name="Step desc 1"/>
          <p:cNvSpPr txBox="1"/>
          <p:nvPr/>
        </p:nvSpPr>
        <p:spPr>
          <a:xfrm>
            <a:off x="502920" y="2788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CSV, JSON, or Excel files.</a:t>
            </a:r>
            <a:endParaRPr lang="en-US" sz="1400" dirty="0"/>
          </a:p>
        </p:txBody>
      </p:sp>
      <p:sp>
        <p:nvSpPr>
          <p:cNvPr id="8" name="Step circle 2"/>
          <p:cNvSpPr/>
          <p:nvPr/>
        </p:nvSpPr>
        <p:spPr>
          <a:xfrm>
            <a:off x="3154680" y="14173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Step icon 2" descr="2  Selec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627632"/>
            <a:ext cx="310896" cy="310896"/>
          </a:xfrm>
          <a:prstGeom prst="rect">
            <a:avLst/>
          </a:prstGeom>
        </p:spPr>
      </p:pic>
      <p:sp>
        <p:nvSpPr>
          <p:cNvPr id="10" name="Step arrow 2"/>
          <p:cNvSpPr/>
          <p:nvPr/>
        </p:nvSpPr>
        <p:spPr>
          <a:xfrm>
            <a:off x="4023360" y="1783080"/>
            <a:ext cx="109728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1" name="Step head 2"/>
          <p:cNvSpPr txBox="1"/>
          <p:nvPr/>
        </p:nvSpPr>
        <p:spPr>
          <a:xfrm>
            <a:off x="260604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  Select</a:t>
            </a:r>
            <a:endParaRPr lang="en-US" sz="1800" dirty="0"/>
          </a:p>
        </p:txBody>
      </p:sp>
      <p:sp>
        <p:nvSpPr>
          <p:cNvPr id="12" name="Step desc 2"/>
          <p:cNvSpPr txBox="1"/>
          <p:nvPr/>
        </p:nvSpPr>
        <p:spPr>
          <a:xfrm>
            <a:off x="2606040" y="2788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Pick several classification or regression models.</a:t>
            </a:r>
            <a:endParaRPr lang="en-US" sz="1400" dirty="0"/>
          </a:p>
        </p:txBody>
      </p:sp>
      <p:sp>
        <p:nvSpPr>
          <p:cNvPr id="13" name="Step circle 3"/>
          <p:cNvSpPr/>
          <p:nvPr/>
        </p:nvSpPr>
        <p:spPr>
          <a:xfrm>
            <a:off x="5257800" y="14173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Step icon 3" descr="3  Ru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1627632"/>
            <a:ext cx="310896" cy="310896"/>
          </a:xfrm>
          <a:prstGeom prst="rect">
            <a:avLst/>
          </a:prstGeom>
        </p:spPr>
      </p:pic>
      <p:sp>
        <p:nvSpPr>
          <p:cNvPr id="15" name="Step arrow 3"/>
          <p:cNvSpPr/>
          <p:nvPr/>
        </p:nvSpPr>
        <p:spPr>
          <a:xfrm>
            <a:off x="6126480" y="1783080"/>
            <a:ext cx="109728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6" name="Step head 3"/>
          <p:cNvSpPr txBox="1"/>
          <p:nvPr/>
        </p:nvSpPr>
        <p:spPr>
          <a:xfrm>
            <a:off x="470916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  Run</a:t>
            </a:r>
            <a:endParaRPr lang="en-US" sz="1800" dirty="0"/>
          </a:p>
        </p:txBody>
      </p:sp>
      <p:sp>
        <p:nvSpPr>
          <p:cNvPr id="17" name="Step desc 3"/>
          <p:cNvSpPr txBox="1"/>
          <p:nvPr/>
        </p:nvSpPr>
        <p:spPr>
          <a:xfrm>
            <a:off x="4709160" y="2788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One click starts the training pipeline.</a:t>
            </a:r>
            <a:endParaRPr lang="en-US" sz="1400" dirty="0"/>
          </a:p>
        </p:txBody>
      </p:sp>
      <p:sp>
        <p:nvSpPr>
          <p:cNvPr id="18" name="Step circle 4"/>
          <p:cNvSpPr/>
          <p:nvPr/>
        </p:nvSpPr>
        <p:spPr>
          <a:xfrm>
            <a:off x="7360920" y="14173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Step icon 4" descr="4  Compa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2" y="1627632"/>
            <a:ext cx="310896" cy="310896"/>
          </a:xfrm>
          <a:prstGeom prst="rect">
            <a:avLst/>
          </a:prstGeom>
        </p:spPr>
      </p:pic>
      <p:sp>
        <p:nvSpPr>
          <p:cNvPr id="20" name="Step head 4"/>
          <p:cNvSpPr txBox="1"/>
          <p:nvPr/>
        </p:nvSpPr>
        <p:spPr>
          <a:xfrm>
            <a:off x="681228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  Compare</a:t>
            </a:r>
            <a:endParaRPr lang="en-US" sz="1800" dirty="0"/>
          </a:p>
        </p:txBody>
      </p:sp>
      <p:sp>
        <p:nvSpPr>
          <p:cNvPr id="21" name="Step desc 4"/>
          <p:cNvSpPr txBox="1"/>
          <p:nvPr/>
        </p:nvSpPr>
        <p:spPr>
          <a:xfrm>
            <a:off x="6812280" y="2788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Side-by-side metrics, charts, and report export.</a:t>
            </a:r>
            <a:endParaRPr lang="en-US" sz="1400" dirty="0"/>
          </a:p>
        </p:txBody>
      </p:sp>
      <p:sp>
        <p:nvSpPr>
          <p:cNvPr id="22" name="Tagline banner"/>
          <p:cNvSpPr/>
          <p:nvPr/>
        </p:nvSpPr>
        <p:spPr>
          <a:xfrm>
            <a:off x="457200" y="384048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sp>
        <p:nvSpPr>
          <p:cNvPr id="23" name="Tagline"/>
          <p:cNvSpPr txBox="1"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No boilerplate. No environment setup. One place for every benchmark.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Built for people who prototype fast</a:t>
            </a:r>
            <a:endParaRPr lang="en-US" sz="3000" dirty="0"/>
          </a:p>
        </p:txBody>
      </p:sp>
      <p:sp>
        <p:nvSpPr>
          <p:cNvPr id="3" name="User card 1"/>
          <p:cNvSpPr/>
          <p:nvPr/>
        </p:nvSpPr>
        <p:spPr>
          <a:xfrm>
            <a:off x="457200" y="1371600"/>
            <a:ext cx="2560320" cy="283464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4" name="User icon circle 1"/>
          <p:cNvSpPr/>
          <p:nvPr/>
        </p:nvSpPr>
        <p:spPr>
          <a:xfrm>
            <a:off x="73152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User icon 1" descr="Data science stud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56232"/>
            <a:ext cx="310896" cy="310896"/>
          </a:xfrm>
          <a:prstGeom prst="rect">
            <a:avLst/>
          </a:prstGeom>
        </p:spPr>
      </p:pic>
      <p:sp>
        <p:nvSpPr>
          <p:cNvPr id="6" name="User head 1"/>
          <p:cNvSpPr txBox="1"/>
          <p:nvPr/>
        </p:nvSpPr>
        <p:spPr>
          <a:xfrm>
            <a:off x="731520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Data science students</a:t>
            </a:r>
            <a:endParaRPr lang="en-US" sz="1800" dirty="0"/>
          </a:p>
        </p:txBody>
      </p:sp>
      <p:sp>
        <p:nvSpPr>
          <p:cNvPr id="7" name="User desc 1"/>
          <p:cNvSpPr txBox="1"/>
          <p:nvPr/>
        </p:nvSpPr>
        <p:spPr>
          <a:xfrm>
            <a:off x="731520" y="3108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Try several models on class or personal datasets without any setup.</a:t>
            </a:r>
            <a:endParaRPr lang="en-US" sz="1400" dirty="0"/>
          </a:p>
        </p:txBody>
      </p:sp>
      <p:sp>
        <p:nvSpPr>
          <p:cNvPr id="8" name="User card 2"/>
          <p:cNvSpPr/>
          <p:nvPr/>
        </p:nvSpPr>
        <p:spPr>
          <a:xfrm>
            <a:off x="3291840" y="1371600"/>
            <a:ext cx="2560320" cy="283464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9" name="User icon circle 2"/>
          <p:cNvSpPr/>
          <p:nvPr/>
        </p:nvSpPr>
        <p:spPr>
          <a:xfrm>
            <a:off x="356616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User icon 2" descr="Research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1856232"/>
            <a:ext cx="310896" cy="310896"/>
          </a:xfrm>
          <a:prstGeom prst="rect">
            <a:avLst/>
          </a:prstGeom>
        </p:spPr>
      </p:pic>
      <p:sp>
        <p:nvSpPr>
          <p:cNvPr id="11" name="User head 2"/>
          <p:cNvSpPr txBox="1"/>
          <p:nvPr/>
        </p:nvSpPr>
        <p:spPr>
          <a:xfrm>
            <a:off x="3566160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Researchers</a:t>
            </a:r>
            <a:endParaRPr lang="en-US" sz="1800" dirty="0"/>
          </a:p>
        </p:txBody>
      </p:sp>
      <p:sp>
        <p:nvSpPr>
          <p:cNvPr id="12" name="User desc 2"/>
          <p:cNvSpPr txBox="1"/>
          <p:nvPr/>
        </p:nvSpPr>
        <p:spPr>
          <a:xfrm>
            <a:off x="3566160" y="3108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Run repeatable, side-by-side benchmarks to support early model selection.</a:t>
            </a:r>
            <a:endParaRPr lang="en-US" sz="1400" dirty="0"/>
          </a:p>
        </p:txBody>
      </p:sp>
      <p:sp>
        <p:nvSpPr>
          <p:cNvPr id="13" name="User card 3"/>
          <p:cNvSpPr/>
          <p:nvPr/>
        </p:nvSpPr>
        <p:spPr>
          <a:xfrm>
            <a:off x="6126480" y="1371600"/>
            <a:ext cx="2560320" cy="283464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14" name="User icon circle 3"/>
          <p:cNvSpPr/>
          <p:nvPr/>
        </p:nvSpPr>
        <p:spPr>
          <a:xfrm>
            <a:off x="640080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User icon 3" descr="Agile dev team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1856232"/>
            <a:ext cx="310896" cy="310896"/>
          </a:xfrm>
          <a:prstGeom prst="rect">
            <a:avLst/>
          </a:prstGeom>
        </p:spPr>
      </p:pic>
      <p:sp>
        <p:nvSpPr>
          <p:cNvPr id="16" name="User head 3"/>
          <p:cNvSpPr txBox="1"/>
          <p:nvPr/>
        </p:nvSpPr>
        <p:spPr>
          <a:xfrm>
            <a:off x="6400800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Agile dev teams</a:t>
            </a:r>
            <a:endParaRPr lang="en-US" sz="1800" dirty="0"/>
          </a:p>
        </p:txBody>
      </p:sp>
      <p:sp>
        <p:nvSpPr>
          <p:cNvPr id="17" name="User desc 3"/>
          <p:cNvSpPr txBox="1"/>
          <p:nvPr/>
        </p:nvSpPr>
        <p:spPr>
          <a:xfrm>
            <a:off x="6400800" y="3108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Prototype quickly and compare models before committing to an approach.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MVP scope: the core loop only</a:t>
            </a:r>
            <a:endParaRPr lang="en-US" sz="3000" dirty="0"/>
          </a:p>
        </p:txBody>
      </p:sp>
      <p:sp>
        <p:nvSpPr>
          <p:cNvPr id="3" name="In scope card"/>
          <p:cNvSpPr/>
          <p:nvPr/>
        </p:nvSpPr>
        <p:spPr>
          <a:xfrm>
            <a:off x="457200" y="1325880"/>
            <a:ext cx="4023360" cy="26517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/>
        </p:spPr>
      </p:sp>
      <p:pic>
        <p:nvPicPr>
          <p:cNvPr id="4" name="In scope icon" descr="In sco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292608" cy="292608"/>
          </a:xfrm>
          <a:prstGeom prst="rect">
            <a:avLst/>
          </a:prstGeom>
        </p:spPr>
      </p:pic>
      <p:sp>
        <p:nvSpPr>
          <p:cNvPr id="5" name="In scope head"/>
          <p:cNvSpPr txBox="1"/>
          <p:nvPr/>
        </p:nvSpPr>
        <p:spPr>
          <a:xfrm>
            <a:off x="1097280" y="14904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In the MVP</a:t>
            </a:r>
            <a:endParaRPr lang="en-US" sz="1800" dirty="0"/>
          </a:p>
        </p:txBody>
      </p:sp>
      <p:sp>
        <p:nvSpPr>
          <p:cNvPr id="6" name="In scope list"/>
          <p:cNvSpPr txBox="1"/>
          <p:nvPr/>
        </p:nvSpPr>
        <p:spPr>
          <a:xfrm>
            <a:off x="685800" y="201168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CSV, JSON, and Excel upload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Classification and regression models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Accuracy, F1-Score, and RMSE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Comparison dashboard and report export</a:t>
            </a:r>
            <a:endParaRPr lang="en-US" sz="1400" dirty="0"/>
          </a:p>
        </p:txBody>
      </p:sp>
      <p:sp>
        <p:nvSpPr>
          <p:cNvPr id="7" name="Later card"/>
          <p:cNvSpPr/>
          <p:nvPr/>
        </p:nvSpPr>
        <p:spPr>
          <a:xfrm>
            <a:off x="4663440" y="1325880"/>
            <a:ext cx="4023360" cy="265176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Later icon" descr="La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08760"/>
            <a:ext cx="292608" cy="292608"/>
          </a:xfrm>
          <a:prstGeom prst="rect">
            <a:avLst/>
          </a:prstGeom>
        </p:spPr>
      </p:pic>
      <p:sp>
        <p:nvSpPr>
          <p:cNvPr id="9" name="Later head"/>
          <p:cNvSpPr txBox="1"/>
          <p:nvPr/>
        </p:nvSpPr>
        <p:spPr>
          <a:xfrm>
            <a:off x="5303520" y="14904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Later</a:t>
            </a:r>
            <a:endParaRPr lang="en-US" sz="1800" dirty="0"/>
          </a:p>
        </p:txBody>
      </p:sp>
      <p:sp>
        <p:nvSpPr>
          <p:cNvPr id="10" name="Later list"/>
          <p:cNvSpPr txBox="1"/>
          <p:nvPr/>
        </p:nvSpPr>
        <p:spPr>
          <a:xfrm>
            <a:off x="4892040" y="201168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Deep learning and GPU training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User accounts and saved projects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Large datasets and hyperparameter search</a:t>
            </a:r>
            <a:endParaRPr lang="en-US" sz="1400" dirty="0"/>
          </a:p>
        </p:txBody>
      </p:sp>
      <p:sp>
        <p:nvSpPr>
          <p:cNvPr id="11" name="Epic chip 1"/>
          <p:cNvSpPr/>
          <p:nvPr/>
        </p:nvSpPr>
        <p:spPr>
          <a:xfrm>
            <a:off x="457200" y="4160520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2" name="Epic chip text 1"/>
          <p:cNvSpPr txBox="1"/>
          <p:nvPr/>
        </p:nvSpPr>
        <p:spPr>
          <a:xfrm>
            <a:off x="457200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E1 Setup</a:t>
            </a:r>
            <a:endParaRPr lang="en-US" sz="1200" dirty="0"/>
          </a:p>
        </p:txBody>
      </p:sp>
      <p:sp>
        <p:nvSpPr>
          <p:cNvPr id="13" name="Epic chip 2"/>
          <p:cNvSpPr/>
          <p:nvPr/>
        </p:nvSpPr>
        <p:spPr>
          <a:xfrm>
            <a:off x="2103120" y="4160520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Epic chip text 2"/>
          <p:cNvSpPr txBox="1"/>
          <p:nvPr/>
        </p:nvSpPr>
        <p:spPr>
          <a:xfrm>
            <a:off x="2103120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E2 Ingestion</a:t>
            </a:r>
            <a:endParaRPr lang="en-US" sz="1200" dirty="0"/>
          </a:p>
        </p:txBody>
      </p:sp>
      <p:sp>
        <p:nvSpPr>
          <p:cNvPr id="15" name="Epic chip 3"/>
          <p:cNvSpPr/>
          <p:nvPr/>
        </p:nvSpPr>
        <p:spPr>
          <a:xfrm>
            <a:off x="3749040" y="4160520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Epic chip text 3"/>
          <p:cNvSpPr txBox="1"/>
          <p:nvPr/>
        </p:nvSpPr>
        <p:spPr>
          <a:xfrm>
            <a:off x="3749040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E3 Models</a:t>
            </a:r>
            <a:endParaRPr lang="en-US" sz="1200" dirty="0"/>
          </a:p>
        </p:txBody>
      </p:sp>
      <p:sp>
        <p:nvSpPr>
          <p:cNvPr id="17" name="Epic chip 4"/>
          <p:cNvSpPr/>
          <p:nvPr/>
        </p:nvSpPr>
        <p:spPr>
          <a:xfrm>
            <a:off x="5394960" y="4160520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8" name="Epic chip text 4"/>
          <p:cNvSpPr txBox="1"/>
          <p:nvPr/>
        </p:nvSpPr>
        <p:spPr>
          <a:xfrm>
            <a:off x="5394960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E4 Evaluation</a:t>
            </a:r>
            <a:endParaRPr lang="en-US" sz="1200" dirty="0"/>
          </a:p>
        </p:txBody>
      </p:sp>
      <p:sp>
        <p:nvSpPr>
          <p:cNvPr id="19" name="Epic chip 5"/>
          <p:cNvSpPr/>
          <p:nvPr/>
        </p:nvSpPr>
        <p:spPr>
          <a:xfrm>
            <a:off x="7040880" y="4160520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Epic chip text 5"/>
          <p:cNvSpPr txBox="1"/>
          <p:nvPr/>
        </p:nvSpPr>
        <p:spPr>
          <a:xfrm>
            <a:off x="7040880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E5 Dashboard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Five sprints from setup to dashboard</a:t>
            </a:r>
            <a:endParaRPr lang="en-US" sz="3000" dirty="0"/>
          </a:p>
        </p:txBody>
      </p:sp>
      <p:sp>
        <p:nvSpPr>
          <p:cNvPr id="3" name="Timeline line"/>
          <p:cNvSpPr/>
          <p:nvPr/>
        </p:nvSpPr>
        <p:spPr>
          <a:xfrm>
            <a:off x="1280160" y="1783080"/>
            <a:ext cx="6583680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4" name="Timeline node 1"/>
          <p:cNvSpPr/>
          <p:nvPr/>
        </p:nvSpPr>
        <p:spPr>
          <a:xfrm>
            <a:off x="150876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imeline node text 1"/>
          <p:cNvSpPr txBox="1"/>
          <p:nvPr/>
        </p:nvSpPr>
        <p:spPr>
          <a:xfrm>
            <a:off x="15087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1-2</a:t>
            </a:r>
            <a:endParaRPr lang="en-US" sz="1600" dirty="0"/>
          </a:p>
        </p:txBody>
      </p:sp>
      <p:sp>
        <p:nvSpPr>
          <p:cNvPr id="6" name="Sprint card 1"/>
          <p:cNvSpPr/>
          <p:nvPr/>
        </p:nvSpPr>
        <p:spPr>
          <a:xfrm>
            <a:off x="548640" y="2377440"/>
            <a:ext cx="25603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7" name="Sprint head 1"/>
          <p:cNvSpPr txBox="1"/>
          <p:nvPr/>
        </p:nvSpPr>
        <p:spPr>
          <a:xfrm>
            <a:off x="777240" y="2560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Sprint 1 to 2</a:t>
            </a:r>
            <a:endParaRPr lang="en-US" sz="1600" dirty="0"/>
          </a:p>
        </p:txBody>
      </p:sp>
      <p:sp>
        <p:nvSpPr>
          <p:cNvPr id="8" name="Sprint desc 1"/>
          <p:cNvSpPr txBox="1"/>
          <p:nvPr/>
        </p:nvSpPr>
        <p:spPr>
          <a:xfrm>
            <a:off x="777240" y="2971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Core architecture and multi-source data loader.</a:t>
            </a:r>
            <a:endParaRPr lang="en-US" sz="1400" dirty="0"/>
          </a:p>
        </p:txBody>
      </p:sp>
      <p:sp>
        <p:nvSpPr>
          <p:cNvPr id="9" name="Sprint epics 1"/>
          <p:cNvSpPr txBox="1"/>
          <p:nvPr/>
        </p:nvSpPr>
        <p:spPr>
          <a:xfrm>
            <a:off x="777240" y="3977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Epics 1 and 2</a:t>
            </a:r>
            <a:endParaRPr lang="en-US" sz="1200" dirty="0"/>
          </a:p>
        </p:txBody>
      </p:sp>
      <p:sp>
        <p:nvSpPr>
          <p:cNvPr id="10" name="Timeline node 2"/>
          <p:cNvSpPr/>
          <p:nvPr/>
        </p:nvSpPr>
        <p:spPr>
          <a:xfrm>
            <a:off x="425196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imeline node text 2"/>
          <p:cNvSpPr txBox="1"/>
          <p:nvPr/>
        </p:nvSpPr>
        <p:spPr>
          <a:xfrm>
            <a:off x="42519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3-4</a:t>
            </a:r>
            <a:endParaRPr lang="en-US" sz="1600" dirty="0"/>
          </a:p>
        </p:txBody>
      </p:sp>
      <p:sp>
        <p:nvSpPr>
          <p:cNvPr id="12" name="Sprint card 2"/>
          <p:cNvSpPr/>
          <p:nvPr/>
        </p:nvSpPr>
        <p:spPr>
          <a:xfrm>
            <a:off x="3291840" y="2377440"/>
            <a:ext cx="25603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3" name="Sprint head 2"/>
          <p:cNvSpPr txBox="1"/>
          <p:nvPr/>
        </p:nvSpPr>
        <p:spPr>
          <a:xfrm>
            <a:off x="3520440" y="2560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Sprint 3 to 4</a:t>
            </a:r>
            <a:endParaRPr lang="en-US" sz="1600" dirty="0"/>
          </a:p>
        </p:txBody>
      </p:sp>
      <p:sp>
        <p:nvSpPr>
          <p:cNvPr id="14" name="Sprint desc 2"/>
          <p:cNvSpPr txBox="1"/>
          <p:nvPr/>
        </p:nvSpPr>
        <p:spPr>
          <a:xfrm>
            <a:off x="3520440" y="2971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Model selection engine and evaluation metrics pipeline.</a:t>
            </a:r>
            <a:endParaRPr lang="en-US" sz="1400" dirty="0"/>
          </a:p>
        </p:txBody>
      </p:sp>
      <p:sp>
        <p:nvSpPr>
          <p:cNvPr id="15" name="Sprint epics 2"/>
          <p:cNvSpPr txBox="1"/>
          <p:nvPr/>
        </p:nvSpPr>
        <p:spPr>
          <a:xfrm>
            <a:off x="3520440" y="3977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Epics 3 and 4</a:t>
            </a:r>
            <a:endParaRPr lang="en-US" sz="1200" dirty="0"/>
          </a:p>
        </p:txBody>
      </p:sp>
      <p:sp>
        <p:nvSpPr>
          <p:cNvPr id="16" name="Timeline node 3"/>
          <p:cNvSpPr/>
          <p:nvPr/>
        </p:nvSpPr>
        <p:spPr>
          <a:xfrm>
            <a:off x="699516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imeline node text 3"/>
          <p:cNvSpPr txBox="1"/>
          <p:nvPr/>
        </p:nvSpPr>
        <p:spPr>
          <a:xfrm>
            <a:off x="69951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Sprint card 3"/>
          <p:cNvSpPr/>
          <p:nvPr/>
        </p:nvSpPr>
        <p:spPr>
          <a:xfrm>
            <a:off x="6035040" y="2377440"/>
            <a:ext cx="25603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9" name="Sprint head 3"/>
          <p:cNvSpPr txBox="1"/>
          <p:nvPr/>
        </p:nvSpPr>
        <p:spPr>
          <a:xfrm>
            <a:off x="6263640" y="2560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Sprint 5</a:t>
            </a:r>
            <a:endParaRPr lang="en-US" sz="1600" dirty="0"/>
          </a:p>
        </p:txBody>
      </p:sp>
      <p:sp>
        <p:nvSpPr>
          <p:cNvPr id="20" name="Sprint desc 3"/>
          <p:cNvSpPr txBox="1"/>
          <p:nvPr/>
        </p:nvSpPr>
        <p:spPr>
          <a:xfrm>
            <a:off x="6263640" y="2971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Interactive visualization dashboard and final polish.</a:t>
            </a:r>
            <a:endParaRPr lang="en-US" sz="1400" dirty="0"/>
          </a:p>
        </p:txBody>
      </p:sp>
      <p:sp>
        <p:nvSpPr>
          <p:cNvPr id="21" name="Sprint epics 3"/>
          <p:cNvSpPr txBox="1"/>
          <p:nvPr/>
        </p:nvSpPr>
        <p:spPr>
          <a:xfrm>
            <a:off x="6263640" y="3977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Epic 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Lean team, open-source stack</a:t>
            </a:r>
            <a:endParaRPr lang="en-US" sz="3000" dirty="0"/>
          </a:p>
        </p:txBody>
      </p:sp>
      <p:sp>
        <p:nvSpPr>
          <p:cNvPr id="3" name="Budget card"/>
          <p:cNvSpPr/>
          <p:nvPr/>
        </p:nvSpPr>
        <p:spPr>
          <a:xfrm>
            <a:off x="457200" y="1371600"/>
            <a:ext cx="3108960" cy="283464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</p:spPr>
      </p:sp>
      <p:sp>
        <p:nvSpPr>
          <p:cNvPr id="4" name="Budget figure"/>
          <p:cNvSpPr txBox="1"/>
          <p:nvPr/>
        </p:nvSpPr>
        <p:spPr>
          <a:xfrm>
            <a:off x="731520" y="1737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$0 to $500</a:t>
            </a:r>
            <a:endParaRPr lang="en-US" sz="3600" dirty="0"/>
          </a:p>
        </p:txBody>
      </p:sp>
      <p:sp>
        <p:nvSpPr>
          <p:cNvPr id="5" name="Budget label"/>
          <p:cNvSpPr txBox="1"/>
          <p:nvPr/>
        </p:nvSpPr>
        <p:spPr>
          <a:xfrm>
            <a:off x="731520" y="2560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Initial cloud credits and developer tools.</a:t>
            </a:r>
            <a:endParaRPr lang="en-US" sz="1400" dirty="0"/>
          </a:p>
        </p:txBody>
      </p:sp>
      <p:sp>
        <p:nvSpPr>
          <p:cNvPr id="6" name="Budget note"/>
          <p:cNvSpPr txBox="1"/>
          <p:nvPr/>
        </p:nvSpPr>
        <p:spPr>
          <a:xfrm>
            <a:off x="731520" y="3291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Open-source libraries and free-tier hosting keep costs low.</a:t>
            </a:r>
            <a:endParaRPr lang="en-US" sz="1400" dirty="0"/>
          </a:p>
        </p:txBody>
      </p:sp>
      <p:sp>
        <p:nvSpPr>
          <p:cNvPr id="7" name="Roles head"/>
          <p:cNvSpPr txBox="1"/>
          <p:nvPr/>
        </p:nvSpPr>
        <p:spPr>
          <a:xfrm>
            <a:off x="393192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Team roles</a:t>
            </a:r>
            <a:endParaRPr lang="en-US" sz="1600" dirty="0"/>
          </a:p>
        </p:txBody>
      </p:sp>
      <p:sp>
        <p:nvSpPr>
          <p:cNvPr id="8" name="Role icon circle 1"/>
          <p:cNvSpPr/>
          <p:nvPr/>
        </p:nvSpPr>
        <p:spPr>
          <a:xfrm>
            <a:off x="3931920" y="1783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Role icon 1" descr="Frontend U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0792" y="1901952"/>
            <a:ext cx="219456" cy="219456"/>
          </a:xfrm>
          <a:prstGeom prst="rect">
            <a:avLst/>
          </a:prstGeom>
        </p:spPr>
      </p:pic>
      <p:sp>
        <p:nvSpPr>
          <p:cNvPr id="10" name="Role text 1"/>
          <p:cNvSpPr txBox="1"/>
          <p:nvPr/>
        </p:nvSpPr>
        <p:spPr>
          <a:xfrm>
            <a:off x="4572000" y="1783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Frontend UI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Upload, model selection, dashboard</a:t>
            </a:r>
            <a:endParaRPr lang="en-US" sz="1400" dirty="0"/>
          </a:p>
        </p:txBody>
      </p:sp>
      <p:sp>
        <p:nvSpPr>
          <p:cNvPr id="11" name="Role icon circle 2"/>
          <p:cNvSpPr/>
          <p:nvPr/>
        </p:nvSpPr>
        <p:spPr>
          <a:xfrm>
            <a:off x="3931920" y="2423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Role icon 2" descr="Backend and data pipel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792" y="2542032"/>
            <a:ext cx="219456" cy="219456"/>
          </a:xfrm>
          <a:prstGeom prst="rect">
            <a:avLst/>
          </a:prstGeom>
        </p:spPr>
      </p:pic>
      <p:sp>
        <p:nvSpPr>
          <p:cNvPr id="13" name="Role text 2"/>
          <p:cNvSpPr txBox="1"/>
          <p:nvPr/>
        </p:nvSpPr>
        <p:spPr>
          <a:xfrm>
            <a:off x="4572000" y="2423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Backend and data pipeline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Ingestion, preprocessing, API</a:t>
            </a:r>
            <a:endParaRPr lang="en-US" sz="1400" dirty="0"/>
          </a:p>
        </p:txBody>
      </p:sp>
      <p:sp>
        <p:nvSpPr>
          <p:cNvPr id="14" name="Role icon circle 3"/>
          <p:cNvSpPr/>
          <p:nvPr/>
        </p:nvSpPr>
        <p:spPr>
          <a:xfrm>
            <a:off x="393192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Role icon 3" descr="ML evalu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792" y="3182112"/>
            <a:ext cx="219456" cy="219456"/>
          </a:xfrm>
          <a:prstGeom prst="rect">
            <a:avLst/>
          </a:prstGeom>
        </p:spPr>
      </p:pic>
      <p:sp>
        <p:nvSpPr>
          <p:cNvPr id="16" name="Role text 3"/>
          <p:cNvSpPr txBox="1"/>
          <p:nvPr/>
        </p:nvSpPr>
        <p:spPr>
          <a:xfrm>
            <a:off x="4572000" y="3063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ML evaluation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Model catalog, training, metrics</a:t>
            </a:r>
            <a:endParaRPr lang="en-US" sz="1400" dirty="0"/>
          </a:p>
        </p:txBody>
      </p:sp>
      <p:sp>
        <p:nvSpPr>
          <p:cNvPr id="17" name="Stack label"/>
          <p:cNvSpPr txBox="1"/>
          <p:nvPr/>
        </p:nvSpPr>
        <p:spPr>
          <a:xfrm>
            <a:off x="3931920" y="3703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Stack</a:t>
            </a:r>
            <a:endParaRPr lang="en-US" sz="1600" dirty="0"/>
          </a:p>
        </p:txBody>
      </p:sp>
      <p:sp>
        <p:nvSpPr>
          <p:cNvPr id="18" name="Stack chip 1"/>
          <p:cNvSpPr/>
          <p:nvPr/>
        </p:nvSpPr>
        <p:spPr>
          <a:xfrm>
            <a:off x="3931920" y="4069080"/>
            <a:ext cx="822960" cy="320040"/>
          </a:xfrm>
          <a:prstGeom prst="roundRect">
            <a:avLst>
              <a:gd name="adj" fmla="val 48571"/>
            </a:avLst>
          </a:prstGeom>
          <a:solidFill>
            <a:schemeClr val="bg2"/>
          </a:solidFill>
          <a:ln/>
        </p:spPr>
      </p:sp>
      <p:sp>
        <p:nvSpPr>
          <p:cNvPr id="19" name="Stack chip text 1"/>
          <p:cNvSpPr txBox="1"/>
          <p:nvPr/>
        </p:nvSpPr>
        <p:spPr>
          <a:xfrm>
            <a:off x="3931920" y="4069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Python</a:t>
            </a:r>
            <a:endParaRPr lang="en-US" sz="1200" dirty="0"/>
          </a:p>
        </p:txBody>
      </p:sp>
      <p:sp>
        <p:nvSpPr>
          <p:cNvPr id="20" name="Stack chip 2"/>
          <p:cNvSpPr/>
          <p:nvPr/>
        </p:nvSpPr>
        <p:spPr>
          <a:xfrm>
            <a:off x="4846320" y="4069080"/>
            <a:ext cx="822960" cy="320040"/>
          </a:xfrm>
          <a:prstGeom prst="roundRect">
            <a:avLst>
              <a:gd name="adj" fmla="val 48571"/>
            </a:avLst>
          </a:prstGeom>
          <a:solidFill>
            <a:schemeClr val="bg2"/>
          </a:solidFill>
          <a:ln/>
        </p:spPr>
      </p:sp>
      <p:sp>
        <p:nvSpPr>
          <p:cNvPr id="21" name="Stack chip text 2"/>
          <p:cNvSpPr txBox="1"/>
          <p:nvPr/>
        </p:nvSpPr>
        <p:spPr>
          <a:xfrm>
            <a:off x="4846320" y="4069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Pandas</a:t>
            </a:r>
            <a:endParaRPr lang="en-US" sz="1200" dirty="0"/>
          </a:p>
        </p:txBody>
      </p:sp>
      <p:sp>
        <p:nvSpPr>
          <p:cNvPr id="22" name="Stack chip 3"/>
          <p:cNvSpPr/>
          <p:nvPr/>
        </p:nvSpPr>
        <p:spPr>
          <a:xfrm>
            <a:off x="5760720" y="4069080"/>
            <a:ext cx="1188720" cy="320040"/>
          </a:xfrm>
          <a:prstGeom prst="roundRect">
            <a:avLst>
              <a:gd name="adj" fmla="val 48571"/>
            </a:avLst>
          </a:prstGeom>
          <a:solidFill>
            <a:schemeClr val="bg2"/>
          </a:solidFill>
          <a:ln/>
        </p:spPr>
      </p:sp>
      <p:sp>
        <p:nvSpPr>
          <p:cNvPr id="23" name="Stack chip text 3"/>
          <p:cNvSpPr txBox="1"/>
          <p:nvPr/>
        </p:nvSpPr>
        <p:spPr>
          <a:xfrm>
            <a:off x="5760720" y="4069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Scikit-Learn</a:t>
            </a:r>
            <a:endParaRPr lang="en-US" sz="1200" dirty="0"/>
          </a:p>
        </p:txBody>
      </p:sp>
      <p:sp>
        <p:nvSpPr>
          <p:cNvPr id="24" name="Stack chip 4"/>
          <p:cNvSpPr/>
          <p:nvPr/>
        </p:nvSpPr>
        <p:spPr>
          <a:xfrm>
            <a:off x="7040880" y="4069080"/>
            <a:ext cx="1554480" cy="320040"/>
          </a:xfrm>
          <a:prstGeom prst="roundRect">
            <a:avLst>
              <a:gd name="adj" fmla="val 48571"/>
            </a:avLst>
          </a:prstGeom>
          <a:solidFill>
            <a:schemeClr val="bg2"/>
          </a:solidFill>
          <a:ln/>
        </p:spPr>
      </p:sp>
      <p:sp>
        <p:nvSpPr>
          <p:cNvPr id="25" name="Stack chip text 4"/>
          <p:cNvSpPr txBox="1"/>
          <p:nvPr/>
        </p:nvSpPr>
        <p:spPr>
          <a:xfrm>
            <a:off x="7040880" y="4069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Streamlit / FastAPI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 title"/>
          <p:cNvSpPr txBox="1"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Stop writing evaluation scripts</a:t>
            </a:r>
            <a:endParaRPr lang="en-US" sz="3600" dirty="0"/>
          </a:p>
        </p:txBody>
      </p:sp>
      <p:sp>
        <p:nvSpPr>
          <p:cNvPr id="3" name="Closing line"/>
          <p:cNvSpPr txBox="1"/>
          <p:nvPr/>
        </p:nvSpPr>
        <p:spPr>
          <a:xfrm>
            <a:off x="640080" y="17373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BenchCraft gives you instant, side-by-side model benchmarks with a single click.</a:t>
            </a:r>
            <a:endParaRPr lang="en-US" sz="2000" dirty="0"/>
          </a:p>
        </p:txBody>
      </p:sp>
      <p:sp>
        <p:nvSpPr>
          <p:cNvPr id="4" name="Next steps label"/>
          <p:cNvSpPr txBox="1"/>
          <p:nvPr/>
        </p:nvSpPr>
        <p:spPr>
          <a:xfrm>
            <a:off x="64008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Next steps</a:t>
            </a:r>
            <a:endParaRPr lang="en-US" sz="1400" dirty="0"/>
          </a:p>
        </p:txBody>
      </p:sp>
      <p:sp>
        <p:nvSpPr>
          <p:cNvPr id="5" name="Next step card 1"/>
          <p:cNvSpPr/>
          <p:nvPr/>
        </p:nvSpPr>
        <p:spPr>
          <a:xfrm>
            <a:off x="640080" y="3246120"/>
            <a:ext cx="246888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6" name="Next step number 1"/>
          <p:cNvSpPr txBox="1"/>
          <p:nvPr/>
        </p:nvSpPr>
        <p:spPr>
          <a:xfrm>
            <a:off x="82296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Next step text 1"/>
          <p:cNvSpPr txBox="1"/>
          <p:nvPr/>
        </p:nvSpPr>
        <p:spPr>
          <a:xfrm>
            <a:off x="1234440" y="33832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Approve the MVP scope and five-sprint plan.</a:t>
            </a:r>
            <a:endParaRPr lang="en-US" sz="1400" dirty="0"/>
          </a:p>
        </p:txBody>
      </p:sp>
      <p:sp>
        <p:nvSpPr>
          <p:cNvPr id="8" name="Next step card 2"/>
          <p:cNvSpPr/>
          <p:nvPr/>
        </p:nvSpPr>
        <p:spPr>
          <a:xfrm>
            <a:off x="3337560" y="3246120"/>
            <a:ext cx="246888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9" name="Next step number 2"/>
          <p:cNvSpPr txBox="1"/>
          <p:nvPr/>
        </p:nvSpPr>
        <p:spPr>
          <a:xfrm>
            <a:off x="352044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Next step text 2"/>
          <p:cNvSpPr txBox="1"/>
          <p:nvPr/>
        </p:nvSpPr>
        <p:spPr>
          <a:xfrm>
            <a:off x="3931920" y="33832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Kick off Sprint 1: architecture and data loader.</a:t>
            </a:r>
            <a:endParaRPr lang="en-US" sz="1400" dirty="0"/>
          </a:p>
        </p:txBody>
      </p:sp>
      <p:sp>
        <p:nvSpPr>
          <p:cNvPr id="11" name="Next step card 3"/>
          <p:cNvSpPr/>
          <p:nvPr/>
        </p:nvSpPr>
        <p:spPr>
          <a:xfrm>
            <a:off x="6035040" y="3246120"/>
            <a:ext cx="246888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12" name="Next step number 3"/>
          <p:cNvSpPr txBox="1"/>
          <p:nvPr/>
        </p:nvSpPr>
        <p:spPr>
          <a:xfrm>
            <a:off x="621792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Next step text 3"/>
          <p:cNvSpPr txBox="1"/>
          <p:nvPr/>
        </p:nvSpPr>
        <p:spPr>
          <a:xfrm>
            <a:off x="6629400" y="33832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Demo the working dashboard at the end of Sprint 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nchCraft">
  <a:themeElements>
    <a:clrScheme name="BenchCraft">
      <a:dk1>
        <a:srgbClr val="1B2A41"/>
      </a:dk1>
      <a:lt1>
        <a:srgbClr val="FFFFFF"/>
      </a:lt1>
      <a:dk2>
        <a:srgbClr val="0F766E"/>
      </a:dk2>
      <a:lt2>
        <a:srgbClr val="EAF3F2"/>
      </a:lt2>
      <a:accent1>
        <a:srgbClr val="0F766E"/>
      </a:accent1>
      <a:accent2>
        <a:srgbClr val="F59E0B"/>
      </a:accent2>
      <a:accent3>
        <a:srgbClr val="1B2A41"/>
      </a:accent3>
      <a:accent4>
        <a:srgbClr val="5B6770"/>
      </a:accent4>
      <a:accent5>
        <a:srgbClr val="14B8A6"/>
      </a:accent5>
      <a:accent6>
        <a:srgbClr val="B45309"/>
      </a:accent6>
      <a:hlink>
        <a:srgbClr val="0F766E"/>
      </a:hlink>
      <a:folHlink>
        <a:srgbClr val="5B6770"/>
      </a:folHlink>
    </a:clrScheme>
    <a:fontScheme name="BenchCraf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BenchCraft Pitch Deck</dc:title>
  <dc:subject>PptxGenJS Presentation</dc:subject>
  <dc:creator>BenchCraft Team</dc:creator>
  <cp:lastModifiedBy>BenchCraft Team</cp:lastModifiedBy>
  <cp:revision>1</cp:revision>
  <dcterms:created xsi:type="dcterms:W3CDTF">2026-10-18T07:24:12Z</dcterms:created>
  <dcterms:modified xsi:type="dcterms:W3CDTF">2026-10-18T07:24:12Z</dcterms:modified>
</cp:coreProperties>
</file>