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ory" id="{dd84cf15-972b-491c-f824-480f16d7b16f}">
          <p14:sldIdLst>
            <p14:sldId id="256"/>
            <p14:sldId id="257"/>
            <p14:sldId id="258"/>
          </p14:sldIdLst>
        </p14:section>
        <p14:section name="Demo" id="{63a9f30a-64fb-f30e-b4d1-47781f6789c6}">
          <p14:sldIdLst>
            <p14:sldId id="259"/>
            <p14:sldId id="260"/>
            <p14:sldId id="261"/>
          </p14:sldIdLst>
        </p14:section>
        <p14:section name="Business" id="{cfa90ea4-e15b-4a71-eb63-73cc89ce1cac}">
          <p14:sldIdLst>
            <p14:sldId id="262"/>
            <p14:sldId id="263"/>
            <p14:sldId id="264"/>
          </p14:sldIdLst>
        </p14:section>
        <p14:section name="Plan" id="{2a1f9f9c-6b33-303d-1584-ebd22c280e91}">
          <p14:sldIdLst>
            <p14:sldId id="265"/>
          </p14:sldIdLst>
        </p14:section>
        <p14:section name="Close" id="{fef09d6b-e206-d434-fa9c-2398b8c46dab}">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A2E2B"/>
                </a:solidFill>
                <a:latin typeface="+mn-lt"/>
              </a:defRPr>
            </a:pPr>
            <a:r>
              <a:rPr sz="1400" b="0" i="0" u="none" strike="noStrike">
                <a:solidFill>
                  <a:srgbClr val="0A2E2B"/>
                </a:solidFill>
                <a:latin typeface="+mn-lt"/>
              </a:rPr>
              <a:t>Monthly revenue target (USD)</a:t>
            </a:r>
          </a:p>
        </c:rich>
      </c:tx>
      <c:layout/>
      <c:overlay val="0"/>
    </c:title>
    <c:autoTitleDeleted val="0"/>
    <c:plotArea>
      <c:layout/>
      <c:barChart>
        <c:barDir val="col"/>
        <c:grouping val="clustered"/>
        <c:varyColors val="0"/>
        <c:ser>
          <c:idx val="0"/>
          <c:order val="0"/>
          <c:tx>
            <c:strRef>
              <c:f>Sheet1!$B$1</c:f>
              <c:strCache>
                <c:ptCount val="1"/>
                <c:pt idx="0">
                  <c:v>Monthly revenue target</c:v>
                </c:pt>
              </c:strCache>
            </c:strRef>
          </c:tx>
          <c:spPr>
            <a:solidFill>
              <a:srgbClr val="B87A14"/>
            </a:solidFill>
            <a:effectLst/>
          </c:spPr>
          <c:invertIfNegative val="0"/>
          <c:dLbls>
            <c:numFmt formatCode="$#,##0" sourceLinked="0"/>
            <c:txPr>
              <a:bodyPr/>
              <a:lstStyle/>
              <a:p>
                <a:pPr>
                  <a:defRPr b="0" i="0" strike="noStrike" sz="1200" u="none">
                    <a:solidFill>
                      <a:srgbClr val="0A2E2B"/>
                    </a:solidFill>
                    <a:latin typeface="+mn-lt"/>
                  </a:defRPr>
                </a:pPr>
              </a:p>
            </c:txPr>
            <c:showLegendKey val="0"/>
            <c:showVal val="1"/>
            <c:showCatName val="0"/>
            <c:showSerName val="0"/>
            <c:showPercent val="0"/>
            <c:showBubbleSize val="0"/>
            <c:showLeaderLines val="0"/>
          </c:dLbls>
          <c:cat>
            <c:multiLvlStrRef>
              <c:f>Sheet1!$A$2:$A$4</c:f>
              <c:multiLvlStrCache>
                <c:ptCount val="3"/>
                <c:lvl>
                  <c:pt idx="0">
                    <c:v>Month 3</c:v>
                  </c:pt>
                  <c:pt idx="1">
                    <c:v>Month 6</c:v>
                  </c:pt>
                  <c:pt idx="2">
                    <c:v>Month 12</c:v>
                  </c:pt>
                </c:lvl>
              </c:multiLvlStrCache>
            </c:multiLvlStrRef>
          </c:cat>
          <c:val>
            <c:numRef>
              <c:f>Sheet1!$B$2:$B$4</c:f>
              <c:numCache>
                <c:formatCode>General</c:formatCode>
                <c:ptCount val="3"/>
                <c:pt idx="0">
                  <c:v>290</c:v>
                </c:pt>
                <c:pt idx="1">
                  <c:v>870</c:v>
                </c:pt>
                <c:pt idx="2">
                  <c:v>2900</c:v>
                </c:pt>
              </c:numCache>
            </c:numRef>
          </c:val>
        </c:ser>
        <c:dLbls>
          <c:numFmt formatCode="$#,##0" sourceLinked="0"/>
          <c:txPr>
            <a:bodyPr/>
            <a:lstStyle/>
            <a:p>
              <a:pPr>
                <a:defRPr b="0" i="0" strike="noStrike" sz="1200" u="none">
                  <a:solidFill>
                    <a:srgbClr val="0A2E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A2E2B"/>
                </a:solidFill>
                <a:latin typeface="+mn-lt"/>
              </a:defRPr>
            </a:pPr>
            <a:endParaRPr lang="en-US"/>
          </a:p>
        </c:txPr>
        <c:crossAx val="2094734552"/>
        <c:crosses val="autoZero"/>
        <c:auto val="1"/>
        <c:lblAlgn val="ctr"/>
        <c:noMultiLvlLbl val="1"/>
      </c:catAx>
      <c:valAx>
        <c:axId val="2094734552"/>
        <c:scaling>
          <c:orientation val="minMax"/>
          <c:max val="36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 seconds. Hi, I'm [name], Team Lead of BenchCraft. We tell technical founders which AI model to choose for their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Technical founders must pick an AI model early. Pick one that is too big and you waste a huge amount of money. Pick one that is too small and the quality disappoints, customers leave, and that is lost money too. The example at the bottom is illustrative, not measured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BenchCraft finds the model that fits your business, shows a clear comparison of the top three, and is easy to use. Next, I will show you how it looks.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Show the first static screen. The founder signs up, then describes how the business works and uploads related documents. Replace this note with your own talking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Show the comparison screen: the top three models grouped for this business, side by side. Replace this note with your own talking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Show the recommendation screen: the model we suggest and why. Replace this note with your own talking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We learn from your business, then pick models for your use case, not a generic leaderboard. Our target is to cut the time to compare models by 90 percent. NOTE FOR PRESENTER: back this number with a test before you say it as fact, for example time a classmate comparing models by hand against using the BenchCraft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We make money every time a customer chooses a model. The Pro plan is $29 per month with 20 comparisons, so each comparison earns about $1.45 at full use and costs us about $0.40. That leaves a 68.5 percent margin per subscriber, and two paying users cover our running costs. These are planning assumptions that we will test with real founders.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AI adoption is broad: 78 percent of organizations used AI in 2024. Our starting market is the 4,511 generative AI companies Tracxn lists worldwide. At $29 a month that is about $1.6 million a year. Our 12-month goal is 100 paying users, about 2 percent of that group. Be ready for the question that this starting market is small; the answer is that we begin here and expand with larger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One epic per sprint, roughly two-week sprints. Sprint 1 sets up accounts, Sprint 2 collects the business description and documents, Sprint 3 builds the model catalog, Sprint 4 does matching and the recommendation, Sprint 5 delivers the comparison screen and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Introduce each founder in one sentence. Say what makes the team right for this problem. FILL IN the names and the one-line reason on the slide before presenting; the amber text marks what to replace.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We are asking for $365: $15 domain name, $250 ai/api credits, $100 contingency. Free tiers cover hosting and tools. That gets us a working MVP in five sprints. Twelve months after launch our target is 100 paying users and $2,900 a month in revenue. We break even at 2 paying users. Thank you.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pic>
        <p:nvPicPr>
          <p:cNvPr id="3" name="Image 0" descr="BenchCraft logo">    </p:cNvPr>
          <p:cNvPicPr>
            <a:picLocks noChangeAspect="1"/>
          </p:cNvPicPr>
          <p:nvPr/>
        </p:nvPicPr>
        <p:blipFill>
          <a:blip r:embed="rId1"/>
          <a:stretch>
            <a:fillRect/>
          </a:stretch>
        </p:blipFill>
        <p:spPr>
          <a:xfrm>
            <a:off x="365760" y="4700016"/>
            <a:ext cx="1143000" cy="274320"/>
          </a:xfrm>
          <a:prstGeom prst="rect">
            <a:avLst/>
          </a:prstGeom>
        </p:spPr>
      </p:pic>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BenchCraft logo">    </p:cNvPr>
          <p:cNvPicPr>
            <a:picLocks noChangeAspect="1"/>
          </p:cNvPicPr>
          <p:nvPr/>
        </p:nvPicPr>
        <p:blipFill>
          <a:blip r:embed="rId1"/>
          <a:stretch>
            <a:fillRect/>
          </a:stretch>
        </p:blipFill>
        <p:spPr>
          <a:xfrm>
            <a:off x="365760" y="4700016"/>
            <a:ext cx="1143000" cy="274320"/>
          </a:xfrm>
          <a:prstGeom prst="rect">
            <a:avLst/>
          </a:prstGeom>
        </p:spPr>
      </p:pic>
      <p:sp>
        <p:nvSpPr>
          <p:cNvPr id="3" name="Text 0"/>
          <p:cNvSpPr/>
          <p:nvPr>
            <p:ph idx="101" type="title" hasCustomPrompt="1"/>
          </p:nvPr>
        </p:nvSpPr>
        <p:spPr>
          <a:xfrm>
            <a:off x="457200" y="320040"/>
            <a:ext cx="8229600" cy="731520"/>
          </a:xfrm>
          <a:prstGeom prst="rect">
            <a:avLst/>
          </a:prstGeom>
          <a:noFill/>
          <a:ln/>
        </p:spPr>
        <p:txBody>
          <a:bodyPr wrap="square" rtlCol="0"/>
          <a:lstStyle>
            <a:lvl1pPr indent="0" marL="0">
              <a:buNone/>
              <a:defRPr lang="en-US" sz="3000" b="1" dirty="0">
                <a:solidFill>
                  <a:schemeClr val="tx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4.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BenchCraft">    </p:cNvPr>
          <p:cNvPicPr>
            <a:picLocks noChangeAspect="1"/>
          </p:cNvPicPr>
          <p:nvPr/>
        </p:nvPicPr>
        <p:blipFill>
          <a:blip r:embed="rId1"/>
          <a:stretch>
            <a:fillRect/>
          </a:stretch>
        </p:blipFill>
        <p:spPr>
          <a:xfrm>
            <a:off x="502920" y="1051560"/>
            <a:ext cx="4754880" cy="1138428"/>
          </a:xfrm>
          <a:prstGeom prst="rect">
            <a:avLst/>
          </a:prstGeom>
        </p:spPr>
      </p:pic>
      <p:sp>
        <p:nvSpPr>
          <p:cNvPr id="3" name="One-line description"/>
          <p:cNvSpPr txBox="1"/>
          <p:nvPr/>
        </p:nvSpPr>
        <p:spPr>
          <a:xfrm>
            <a:off x="640080" y="2331720"/>
            <a:ext cx="4389120" cy="1097280"/>
          </a:xfrm>
          <a:prstGeom prst="rect">
            <a:avLst/>
          </a:prstGeom>
          <a:noFill/>
          <a:ln/>
        </p:spPr>
        <p:txBody>
          <a:bodyPr wrap="square" lIns="0" tIns="0" rIns="0" bIns="0" rtlCol="0" anchor="t"/>
          <a:lstStyle/>
          <a:p>
            <a:pPr indent="0" marL="0">
              <a:buNone/>
            </a:pPr>
            <a:r>
              <a:rPr lang="en-US" sz="2000" dirty="0">
                <a:solidFill>
                  <a:schemeClr val="bg2"/>
                </a:solidFill>
              </a:rPr>
              <a:t>An evaluation tool that tells you which AI model to choose for your business.</a:t>
            </a:r>
            <a:endParaRPr lang="en-US" sz="2000" dirty="0"/>
          </a:p>
        </p:txBody>
      </p:sp>
      <p:sp>
        <p:nvSpPr>
          <p:cNvPr id="4" name="Context"/>
          <p:cNvSpPr txBox="1"/>
          <p:nvPr/>
        </p:nvSpPr>
        <p:spPr>
          <a:xfrm>
            <a:off x="640080" y="4114800"/>
            <a:ext cx="3657600" cy="320040"/>
          </a:xfrm>
          <a:prstGeom prst="rect">
            <a:avLst/>
          </a:prstGeom>
          <a:noFill/>
          <a:ln/>
        </p:spPr>
        <p:txBody>
          <a:bodyPr wrap="square" lIns="0" tIns="0" rIns="0" bIns="0" rtlCol="0" anchor="t"/>
          <a:lstStyle/>
          <a:p>
            <a:pPr indent="0" marL="0">
              <a:buNone/>
            </a:pPr>
            <a:r>
              <a:rPr lang="en-US" sz="1400" dirty="0">
                <a:solidFill>
                  <a:schemeClr val="bg2"/>
                </a:solidFill>
              </a:rPr>
              <a:t>Seed pitch</a:t>
            </a:r>
            <a:endParaRPr lang="en-US" sz="1400" dirty="0"/>
          </a:p>
        </p:txBody>
      </p:sp>
      <p:sp>
        <p:nvSpPr>
          <p:cNvPr id="5" name="Option card 1"/>
          <p:cNvSpPr/>
          <p:nvPr/>
        </p:nvSpPr>
        <p:spPr>
          <a:xfrm>
            <a:off x="5669280" y="1097280"/>
            <a:ext cx="2926080" cy="731520"/>
          </a:xfrm>
          <a:prstGeom prst="roundRect">
            <a:avLst>
              <a:gd name="adj" fmla="val 12500"/>
            </a:avLst>
          </a:prstGeom>
          <a:solidFill>
            <a:schemeClr val="accent2"/>
          </a:solidFill>
          <a:ln/>
        </p:spPr>
      </p:sp>
      <p:sp>
        <p:nvSpPr>
          <p:cNvPr id="6" name="Option label 1"/>
          <p:cNvSpPr txBox="1"/>
          <p:nvPr/>
        </p:nvSpPr>
        <p:spPr>
          <a:xfrm>
            <a:off x="5897880" y="1097280"/>
            <a:ext cx="1463040" cy="731520"/>
          </a:xfrm>
          <a:prstGeom prst="rect">
            <a:avLst/>
          </a:prstGeom>
          <a:noFill/>
          <a:ln/>
        </p:spPr>
        <p:txBody>
          <a:bodyPr wrap="square" lIns="0" tIns="0" rIns="0" bIns="0" rtlCol="0" anchor="ctr"/>
          <a:lstStyle/>
          <a:p>
            <a:pPr indent="0" marL="0">
              <a:buNone/>
            </a:pPr>
            <a:r>
              <a:rPr lang="en-US" sz="1600" b="1" dirty="0">
                <a:solidFill>
                  <a:schemeClr val="tx1"/>
                </a:solidFill>
              </a:rPr>
              <a:t>Option 1</a:t>
            </a:r>
            <a:endParaRPr lang="en-US" sz="1600" dirty="0"/>
          </a:p>
        </p:txBody>
      </p:sp>
      <p:sp>
        <p:nvSpPr>
          <p:cNvPr id="7" name="Option tag"/>
          <p:cNvSpPr txBox="1"/>
          <p:nvPr/>
        </p:nvSpPr>
        <p:spPr>
          <a:xfrm>
            <a:off x="7223760" y="1097280"/>
            <a:ext cx="1234440" cy="731520"/>
          </a:xfrm>
          <a:prstGeom prst="rect">
            <a:avLst/>
          </a:prstGeom>
          <a:noFill/>
          <a:ln/>
        </p:spPr>
        <p:txBody>
          <a:bodyPr wrap="square" lIns="0" tIns="0" rIns="0" bIns="0" rtlCol="0" anchor="ctr"/>
          <a:lstStyle/>
          <a:p>
            <a:pPr algn="r" indent="0" marL="0">
              <a:buNone/>
            </a:pPr>
            <a:r>
              <a:rPr lang="en-US" sz="1400" b="1" dirty="0">
                <a:solidFill>
                  <a:schemeClr val="tx1"/>
                </a:solidFill>
              </a:rPr>
              <a:t>Recommended</a:t>
            </a:r>
            <a:endParaRPr lang="en-US" sz="1400" dirty="0"/>
          </a:p>
        </p:txBody>
      </p:sp>
      <p:sp>
        <p:nvSpPr>
          <p:cNvPr id="8" name="Option card 2"/>
          <p:cNvSpPr/>
          <p:nvPr/>
        </p:nvSpPr>
        <p:spPr>
          <a:xfrm>
            <a:off x="5669280" y="2011680"/>
            <a:ext cx="2926080" cy="731520"/>
          </a:xfrm>
          <a:prstGeom prst="roundRect">
            <a:avLst>
              <a:gd name="adj" fmla="val 12500"/>
            </a:avLst>
          </a:prstGeom>
          <a:solidFill>
            <a:schemeClr val="tx2"/>
          </a:solidFill>
          <a:ln/>
        </p:spPr>
      </p:sp>
      <p:sp>
        <p:nvSpPr>
          <p:cNvPr id="9" name="Option label 2"/>
          <p:cNvSpPr txBox="1"/>
          <p:nvPr/>
        </p:nvSpPr>
        <p:spPr>
          <a:xfrm>
            <a:off x="5897880" y="2011680"/>
            <a:ext cx="1463040" cy="731520"/>
          </a:xfrm>
          <a:prstGeom prst="rect">
            <a:avLst/>
          </a:prstGeom>
          <a:noFill/>
          <a:ln/>
        </p:spPr>
        <p:txBody>
          <a:bodyPr wrap="square" lIns="0" tIns="0" rIns="0" bIns="0" rtlCol="0" anchor="ctr"/>
          <a:lstStyle/>
          <a:p>
            <a:pPr indent="0" marL="0">
              <a:buNone/>
            </a:pPr>
            <a:r>
              <a:rPr lang="en-US" sz="1600" b="1" dirty="0">
                <a:solidFill>
                  <a:schemeClr val="bg1"/>
                </a:solidFill>
              </a:rPr>
              <a:t>Option 2</a:t>
            </a:r>
            <a:endParaRPr lang="en-US" sz="1600" dirty="0"/>
          </a:p>
        </p:txBody>
      </p:sp>
      <p:sp>
        <p:nvSpPr>
          <p:cNvPr id="10" name="Option card 3"/>
          <p:cNvSpPr/>
          <p:nvPr/>
        </p:nvSpPr>
        <p:spPr>
          <a:xfrm>
            <a:off x="5669280" y="2926080"/>
            <a:ext cx="2926080" cy="731520"/>
          </a:xfrm>
          <a:prstGeom prst="roundRect">
            <a:avLst>
              <a:gd name="adj" fmla="val 12500"/>
            </a:avLst>
          </a:prstGeom>
          <a:solidFill>
            <a:schemeClr val="tx2"/>
          </a:solidFill>
          <a:ln/>
        </p:spPr>
      </p:sp>
      <p:sp>
        <p:nvSpPr>
          <p:cNvPr id="11" name="Option label 3"/>
          <p:cNvSpPr txBox="1"/>
          <p:nvPr/>
        </p:nvSpPr>
        <p:spPr>
          <a:xfrm>
            <a:off x="5897880" y="2926080"/>
            <a:ext cx="1463040" cy="731520"/>
          </a:xfrm>
          <a:prstGeom prst="rect">
            <a:avLst/>
          </a:prstGeom>
          <a:noFill/>
          <a:ln/>
        </p:spPr>
        <p:txBody>
          <a:bodyPr wrap="square" lIns="0" tIns="0" rIns="0" bIns="0" rtlCol="0" anchor="ctr"/>
          <a:lstStyle/>
          <a:p>
            <a:pPr indent="0" marL="0">
              <a:buNone/>
            </a:pPr>
            <a:r>
              <a:rPr lang="en-US" sz="1600" b="1" dirty="0">
                <a:solidFill>
                  <a:schemeClr val="bg1"/>
                </a:solidFill>
              </a:rPr>
              <a:t>Option 3</a:t>
            </a:r>
            <a:endParaRPr lang="en-US" sz="1600" dirty="0"/>
          </a:p>
        </p:txBody>
      </p:sp>
      <p:sp>
        <p:nvSpPr>
          <p:cNvPr id="12" name="Visual caption"/>
          <p:cNvSpPr txBox="1"/>
          <p:nvPr/>
        </p:nvSpPr>
        <p:spPr>
          <a:xfrm>
            <a:off x="5669280" y="3840480"/>
            <a:ext cx="2926080" cy="274320"/>
          </a:xfrm>
          <a:prstGeom prst="rect">
            <a:avLst/>
          </a:prstGeom>
          <a:noFill/>
          <a:ln/>
        </p:spPr>
        <p:txBody>
          <a:bodyPr wrap="square" lIns="0" tIns="0" rIns="0" bIns="0" rtlCol="0" anchor="t"/>
          <a:lstStyle/>
          <a:p>
            <a:pPr indent="0" marL="0">
              <a:buNone/>
            </a:pPr>
            <a:r>
              <a:rPr lang="en-US" sz="1200" i="1" dirty="0">
                <a:solidFill>
                  <a:schemeClr val="bg2"/>
                </a:solidFill>
              </a:rPr>
              <a:t>Top 3 models for your business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Founders pick the wrong AI model</a:t>
            </a:r>
            <a:endParaRPr lang="en-US" sz="3000" dirty="0"/>
          </a:p>
        </p:txBody>
      </p:sp>
      <p:sp>
        <p:nvSpPr>
          <p:cNvPr id="3" name="Problem card 1"/>
          <p:cNvSpPr/>
          <p:nvPr/>
        </p:nvSpPr>
        <p:spPr>
          <a:xfrm>
            <a:off x="457200" y="1280160"/>
            <a:ext cx="3931920" cy="2194560"/>
          </a:xfrm>
          <a:prstGeom prst="roundRect">
            <a:avLst>
              <a:gd name="adj" fmla="val 4167"/>
            </a:avLst>
          </a:prstGeom>
          <a:solidFill>
            <a:schemeClr val="bg2"/>
          </a:solidFill>
          <a:ln/>
        </p:spPr>
      </p:sp>
      <p:sp>
        <p:nvSpPr>
          <p:cNvPr id="4" name="Problem icon circle 1"/>
          <p:cNvSpPr/>
          <p:nvPr/>
        </p:nvSpPr>
        <p:spPr>
          <a:xfrm>
            <a:off x="731520" y="1508760"/>
            <a:ext cx="640080" cy="640080"/>
          </a:xfrm>
          <a:prstGeom prst="ellipse">
            <a:avLst/>
          </a:prstGeom>
          <a:solidFill>
            <a:schemeClr val="accent1"/>
          </a:solidFill>
          <a:ln/>
        </p:spPr>
      </p:sp>
      <p:pic>
        <p:nvPicPr>
          <p:cNvPr id="5" name="Problem icon 1" descr="Too big">    </p:cNvPr>
          <p:cNvPicPr>
            <a:picLocks noChangeAspect="1"/>
          </p:cNvPicPr>
          <p:nvPr/>
        </p:nvPicPr>
        <p:blipFill>
          <a:blip r:embed="rId1"/>
          <a:stretch>
            <a:fillRect/>
          </a:stretch>
        </p:blipFill>
        <p:spPr>
          <a:xfrm>
            <a:off x="886968" y="1664208"/>
            <a:ext cx="329184" cy="329184"/>
          </a:xfrm>
          <a:prstGeom prst="rect">
            <a:avLst/>
          </a:prstGeom>
        </p:spPr>
      </p:pic>
      <p:sp>
        <p:nvSpPr>
          <p:cNvPr id="6" name="Problem head 1"/>
          <p:cNvSpPr txBox="1"/>
          <p:nvPr/>
        </p:nvSpPr>
        <p:spPr>
          <a:xfrm>
            <a:off x="1554480" y="1508760"/>
            <a:ext cx="2560320" cy="640080"/>
          </a:xfrm>
          <a:prstGeom prst="rect">
            <a:avLst/>
          </a:prstGeom>
          <a:noFill/>
          <a:ln/>
        </p:spPr>
        <p:txBody>
          <a:bodyPr wrap="square" lIns="0" tIns="0" rIns="0" bIns="0" rtlCol="0" anchor="ctr"/>
          <a:lstStyle/>
          <a:p>
            <a:pPr indent="0" marL="0">
              <a:buNone/>
            </a:pPr>
            <a:r>
              <a:rPr lang="en-US" sz="2200" b="1" dirty="0">
                <a:solidFill>
                  <a:schemeClr val="tx1"/>
                </a:solidFill>
              </a:rPr>
              <a:t>Too big</a:t>
            </a:r>
            <a:endParaRPr lang="en-US" sz="2200" dirty="0"/>
          </a:p>
        </p:txBody>
      </p:sp>
      <p:sp>
        <p:nvSpPr>
          <p:cNvPr id="7" name="Problem desc 1"/>
          <p:cNvSpPr txBox="1"/>
          <p:nvPr/>
        </p:nvSpPr>
        <p:spPr>
          <a:xfrm>
            <a:off x="731520" y="2331720"/>
            <a:ext cx="3383280" cy="1005840"/>
          </a:xfrm>
          <a:prstGeom prst="rect">
            <a:avLst/>
          </a:prstGeom>
          <a:noFill/>
          <a:ln/>
        </p:spPr>
        <p:txBody>
          <a:bodyPr wrap="square" lIns="0" tIns="0" rIns="0" bIns="0" rtlCol="0" anchor="t"/>
          <a:lstStyle/>
          <a:p>
            <a:pPr indent="0" marL="0">
              <a:buNone/>
            </a:pPr>
            <a:r>
              <a:rPr lang="en-US" sz="1600" dirty="0">
                <a:solidFill>
                  <a:schemeClr val="accent4"/>
                </a:solidFill>
              </a:rPr>
              <a:t>A bigger model that does not fit wastes a huge amount of money.</a:t>
            </a:r>
            <a:endParaRPr lang="en-US" sz="1600" dirty="0"/>
          </a:p>
        </p:txBody>
      </p:sp>
      <p:sp>
        <p:nvSpPr>
          <p:cNvPr id="8" name="Problem card 2"/>
          <p:cNvSpPr/>
          <p:nvPr/>
        </p:nvSpPr>
        <p:spPr>
          <a:xfrm>
            <a:off x="4754880" y="1280160"/>
            <a:ext cx="3931920" cy="2194560"/>
          </a:xfrm>
          <a:prstGeom prst="roundRect">
            <a:avLst>
              <a:gd name="adj" fmla="val 4167"/>
            </a:avLst>
          </a:prstGeom>
          <a:solidFill>
            <a:schemeClr val="bg2"/>
          </a:solidFill>
          <a:ln/>
        </p:spPr>
      </p:sp>
      <p:sp>
        <p:nvSpPr>
          <p:cNvPr id="9" name="Problem icon circle 2"/>
          <p:cNvSpPr/>
          <p:nvPr/>
        </p:nvSpPr>
        <p:spPr>
          <a:xfrm>
            <a:off x="5029200" y="1508760"/>
            <a:ext cx="640080" cy="640080"/>
          </a:xfrm>
          <a:prstGeom prst="ellipse">
            <a:avLst/>
          </a:prstGeom>
          <a:solidFill>
            <a:schemeClr val="accent1"/>
          </a:solidFill>
          <a:ln/>
        </p:spPr>
      </p:sp>
      <p:pic>
        <p:nvPicPr>
          <p:cNvPr id="10" name="Problem icon 2" descr="Too small">    </p:cNvPr>
          <p:cNvPicPr>
            <a:picLocks noChangeAspect="1"/>
          </p:cNvPicPr>
          <p:nvPr/>
        </p:nvPicPr>
        <p:blipFill>
          <a:blip r:embed="rId2"/>
          <a:stretch>
            <a:fillRect/>
          </a:stretch>
        </p:blipFill>
        <p:spPr>
          <a:xfrm>
            <a:off x="5184648" y="1664208"/>
            <a:ext cx="329184" cy="329184"/>
          </a:xfrm>
          <a:prstGeom prst="rect">
            <a:avLst/>
          </a:prstGeom>
        </p:spPr>
      </p:pic>
      <p:sp>
        <p:nvSpPr>
          <p:cNvPr id="11" name="Problem head 2"/>
          <p:cNvSpPr txBox="1"/>
          <p:nvPr/>
        </p:nvSpPr>
        <p:spPr>
          <a:xfrm>
            <a:off x="5852160" y="1508760"/>
            <a:ext cx="2560320" cy="640080"/>
          </a:xfrm>
          <a:prstGeom prst="rect">
            <a:avLst/>
          </a:prstGeom>
          <a:noFill/>
          <a:ln/>
        </p:spPr>
        <p:txBody>
          <a:bodyPr wrap="square" lIns="0" tIns="0" rIns="0" bIns="0" rtlCol="0" anchor="ctr"/>
          <a:lstStyle/>
          <a:p>
            <a:pPr indent="0" marL="0">
              <a:buNone/>
            </a:pPr>
            <a:r>
              <a:rPr lang="en-US" sz="2200" b="1" dirty="0">
                <a:solidFill>
                  <a:schemeClr val="tx1"/>
                </a:solidFill>
              </a:rPr>
              <a:t>Too small</a:t>
            </a:r>
            <a:endParaRPr lang="en-US" sz="2200" dirty="0"/>
          </a:p>
        </p:txBody>
      </p:sp>
      <p:sp>
        <p:nvSpPr>
          <p:cNvPr id="12" name="Problem desc 2"/>
          <p:cNvSpPr txBox="1"/>
          <p:nvPr/>
        </p:nvSpPr>
        <p:spPr>
          <a:xfrm>
            <a:off x="5029200" y="2331720"/>
            <a:ext cx="3383280" cy="1005840"/>
          </a:xfrm>
          <a:prstGeom prst="rect">
            <a:avLst/>
          </a:prstGeom>
          <a:noFill/>
          <a:ln/>
        </p:spPr>
        <p:txBody>
          <a:bodyPr wrap="square" lIns="0" tIns="0" rIns="0" bIns="0" rtlCol="0" anchor="t"/>
          <a:lstStyle/>
          <a:p>
            <a:pPr indent="0" marL="0">
              <a:buNone/>
            </a:pPr>
            <a:r>
              <a:rPr lang="en-US" sz="1600" dirty="0">
                <a:solidFill>
                  <a:schemeClr val="accent4"/>
                </a:solidFill>
              </a:rPr>
              <a:t>A smaller model lacks quality. Customers leave, and that means lost money.</a:t>
            </a:r>
            <a:endParaRPr lang="en-US" sz="1600" dirty="0"/>
          </a:p>
        </p:txBody>
      </p:sp>
      <p:sp>
        <p:nvSpPr>
          <p:cNvPr id="13" name="Example banner"/>
          <p:cNvSpPr/>
          <p:nvPr/>
        </p:nvSpPr>
        <p:spPr>
          <a:xfrm>
            <a:off x="457200" y="3703320"/>
            <a:ext cx="8229600" cy="731520"/>
          </a:xfrm>
          <a:prstGeom prst="roundRect">
            <a:avLst>
              <a:gd name="adj" fmla="val 12500"/>
            </a:avLst>
          </a:prstGeom>
          <a:solidFill>
            <a:schemeClr val="tx1"/>
          </a:solidFill>
          <a:ln/>
        </p:spPr>
      </p:sp>
      <p:sp>
        <p:nvSpPr>
          <p:cNvPr id="14" name="Example text"/>
          <p:cNvSpPr txBox="1"/>
          <p:nvPr/>
        </p:nvSpPr>
        <p:spPr>
          <a:xfrm>
            <a:off x="731520" y="3703320"/>
            <a:ext cx="7680960" cy="731520"/>
          </a:xfrm>
          <a:prstGeom prst="rect">
            <a:avLst/>
          </a:prstGeom>
          <a:noFill/>
          <a:ln/>
        </p:spPr>
        <p:txBody>
          <a:bodyPr wrap="square" lIns="0" tIns="0" rIns="0" bIns="0" rtlCol="0" anchor="ctr"/>
          <a:lstStyle/>
          <a:p>
            <a:pPr indent="0" marL="0">
              <a:buNone/>
            </a:pPr>
            <a:r>
              <a:rPr lang="en-US" sz="1400" b="1" dirty="0">
                <a:solidFill>
                  <a:schemeClr val="accent2"/>
                </a:solidFill>
              </a:rPr>
              <a:t>Illustrative: </a:t>
            </a:r>
            <a:pPr indent="0" marL="0">
              <a:buNone/>
            </a:pPr>
            <a:r>
              <a:rPr lang="en-US" sz="1400" dirty="0">
                <a:solidFill>
                  <a:schemeClr val="bg1"/>
                </a:solidFill>
              </a:rPr>
              <a:t>$3,000 per month for a premium model, when a right-sized one at $900 per month would do.</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BenchCraft tells you which model fits</a:t>
            </a:r>
            <a:endParaRPr lang="en-US" sz="3000" dirty="0"/>
          </a:p>
        </p:txBody>
      </p:sp>
      <p:sp>
        <p:nvSpPr>
          <p:cNvPr id="3" name="Solution card 1"/>
          <p:cNvSpPr/>
          <p:nvPr/>
        </p:nvSpPr>
        <p:spPr>
          <a:xfrm>
            <a:off x="457200" y="1280160"/>
            <a:ext cx="2560320" cy="2468880"/>
          </a:xfrm>
          <a:prstGeom prst="roundRect">
            <a:avLst>
              <a:gd name="adj" fmla="val 3704"/>
            </a:avLst>
          </a:prstGeom>
          <a:solidFill>
            <a:schemeClr val="bg2"/>
          </a:solidFill>
          <a:ln/>
        </p:spPr>
      </p:sp>
      <p:sp>
        <p:nvSpPr>
          <p:cNvPr id="4" name="Solution icon circle 1"/>
          <p:cNvSpPr/>
          <p:nvPr/>
        </p:nvSpPr>
        <p:spPr>
          <a:xfrm>
            <a:off x="731520" y="1508760"/>
            <a:ext cx="640080" cy="640080"/>
          </a:xfrm>
          <a:prstGeom prst="ellipse">
            <a:avLst/>
          </a:prstGeom>
          <a:solidFill>
            <a:schemeClr val="accent1"/>
          </a:solidFill>
          <a:ln/>
        </p:spPr>
      </p:sp>
      <p:pic>
        <p:nvPicPr>
          <p:cNvPr id="5" name="Solution icon 1" descr="Finds the right model">    </p:cNvPr>
          <p:cNvPicPr>
            <a:picLocks noChangeAspect="1"/>
          </p:cNvPicPr>
          <p:nvPr/>
        </p:nvPicPr>
        <p:blipFill>
          <a:blip r:embed="rId1"/>
          <a:stretch>
            <a:fillRect/>
          </a:stretch>
        </p:blipFill>
        <p:spPr>
          <a:xfrm>
            <a:off x="886968" y="1664208"/>
            <a:ext cx="329184" cy="329184"/>
          </a:xfrm>
          <a:prstGeom prst="rect">
            <a:avLst/>
          </a:prstGeom>
        </p:spPr>
      </p:pic>
      <p:sp>
        <p:nvSpPr>
          <p:cNvPr id="6" name="Solution head 1"/>
          <p:cNvSpPr txBox="1"/>
          <p:nvPr/>
        </p:nvSpPr>
        <p:spPr>
          <a:xfrm>
            <a:off x="731520" y="2331720"/>
            <a:ext cx="2103120" cy="548640"/>
          </a:xfrm>
          <a:prstGeom prst="rect">
            <a:avLst/>
          </a:prstGeom>
          <a:noFill/>
          <a:ln/>
        </p:spPr>
        <p:txBody>
          <a:bodyPr wrap="square" lIns="0" tIns="0" rIns="0" bIns="0" rtlCol="0" anchor="t"/>
          <a:lstStyle/>
          <a:p>
            <a:pPr indent="0" marL="0">
              <a:buNone/>
            </a:pPr>
            <a:r>
              <a:rPr lang="en-US" sz="1800" b="1" dirty="0">
                <a:solidFill>
                  <a:schemeClr val="tx1"/>
                </a:solidFill>
              </a:rPr>
              <a:t>Finds the right model</a:t>
            </a:r>
            <a:endParaRPr lang="en-US" sz="1800" dirty="0"/>
          </a:p>
        </p:txBody>
      </p:sp>
      <p:sp>
        <p:nvSpPr>
          <p:cNvPr id="7" name="Solution desc 1"/>
          <p:cNvSpPr txBox="1"/>
          <p:nvPr/>
        </p:nvSpPr>
        <p:spPr>
          <a:xfrm>
            <a:off x="731520" y="2926080"/>
            <a:ext cx="2103120" cy="731520"/>
          </a:xfrm>
          <a:prstGeom prst="rect">
            <a:avLst/>
          </a:prstGeom>
          <a:noFill/>
          <a:ln/>
        </p:spPr>
        <p:txBody>
          <a:bodyPr wrap="square" lIns="0" tIns="0" rIns="0" bIns="0" rtlCol="0" anchor="t"/>
          <a:lstStyle/>
          <a:p>
            <a:pPr indent="0" marL="0">
              <a:buNone/>
            </a:pPr>
            <a:r>
              <a:rPr lang="en-US" sz="1400" dirty="0">
                <a:solidFill>
                  <a:schemeClr val="accent4"/>
                </a:solidFill>
              </a:rPr>
              <a:t>We match models to your business use case.</a:t>
            </a:r>
            <a:endParaRPr lang="en-US" sz="1400" dirty="0"/>
          </a:p>
        </p:txBody>
      </p:sp>
      <p:sp>
        <p:nvSpPr>
          <p:cNvPr id="8" name="Solution card 2"/>
          <p:cNvSpPr/>
          <p:nvPr/>
        </p:nvSpPr>
        <p:spPr>
          <a:xfrm>
            <a:off x="3291840" y="1280160"/>
            <a:ext cx="2560320" cy="2468880"/>
          </a:xfrm>
          <a:prstGeom prst="roundRect">
            <a:avLst>
              <a:gd name="adj" fmla="val 3704"/>
            </a:avLst>
          </a:prstGeom>
          <a:solidFill>
            <a:schemeClr val="bg2"/>
          </a:solidFill>
          <a:ln/>
        </p:spPr>
      </p:sp>
      <p:sp>
        <p:nvSpPr>
          <p:cNvPr id="9" name="Solution icon circle 2"/>
          <p:cNvSpPr/>
          <p:nvPr/>
        </p:nvSpPr>
        <p:spPr>
          <a:xfrm>
            <a:off x="3566160" y="1508760"/>
            <a:ext cx="640080" cy="640080"/>
          </a:xfrm>
          <a:prstGeom prst="ellipse">
            <a:avLst/>
          </a:prstGeom>
          <a:solidFill>
            <a:schemeClr val="accent1"/>
          </a:solidFill>
          <a:ln/>
        </p:spPr>
      </p:sp>
      <p:pic>
        <p:nvPicPr>
          <p:cNvPr id="10" name="Solution icon 2" descr="Clear comparison">    </p:cNvPr>
          <p:cNvPicPr>
            <a:picLocks noChangeAspect="1"/>
          </p:cNvPicPr>
          <p:nvPr/>
        </p:nvPicPr>
        <p:blipFill>
          <a:blip r:embed="rId2"/>
          <a:stretch>
            <a:fillRect/>
          </a:stretch>
        </p:blipFill>
        <p:spPr>
          <a:xfrm>
            <a:off x="3721608" y="1664208"/>
            <a:ext cx="329184" cy="329184"/>
          </a:xfrm>
          <a:prstGeom prst="rect">
            <a:avLst/>
          </a:prstGeom>
        </p:spPr>
      </p:pic>
      <p:sp>
        <p:nvSpPr>
          <p:cNvPr id="11" name="Solution head 2"/>
          <p:cNvSpPr txBox="1"/>
          <p:nvPr/>
        </p:nvSpPr>
        <p:spPr>
          <a:xfrm>
            <a:off x="3566160" y="2331720"/>
            <a:ext cx="2103120" cy="548640"/>
          </a:xfrm>
          <a:prstGeom prst="rect">
            <a:avLst/>
          </a:prstGeom>
          <a:noFill/>
          <a:ln/>
        </p:spPr>
        <p:txBody>
          <a:bodyPr wrap="square" lIns="0" tIns="0" rIns="0" bIns="0" rtlCol="0" anchor="t"/>
          <a:lstStyle/>
          <a:p>
            <a:pPr indent="0" marL="0">
              <a:buNone/>
            </a:pPr>
            <a:r>
              <a:rPr lang="en-US" sz="1800" b="1" dirty="0">
                <a:solidFill>
                  <a:schemeClr val="tx1"/>
                </a:solidFill>
              </a:rPr>
              <a:t>Clear comparison</a:t>
            </a:r>
            <a:endParaRPr lang="en-US" sz="1800" dirty="0"/>
          </a:p>
        </p:txBody>
      </p:sp>
      <p:sp>
        <p:nvSpPr>
          <p:cNvPr id="12" name="Solution desc 2"/>
          <p:cNvSpPr txBox="1"/>
          <p:nvPr/>
        </p:nvSpPr>
        <p:spPr>
          <a:xfrm>
            <a:off x="3566160" y="2926080"/>
            <a:ext cx="2103120" cy="731520"/>
          </a:xfrm>
          <a:prstGeom prst="rect">
            <a:avLst/>
          </a:prstGeom>
          <a:noFill/>
          <a:ln/>
        </p:spPr>
        <p:txBody>
          <a:bodyPr wrap="square" lIns="0" tIns="0" rIns="0" bIns="0" rtlCol="0" anchor="t"/>
          <a:lstStyle/>
          <a:p>
            <a:pPr indent="0" marL="0">
              <a:buNone/>
            </a:pPr>
            <a:r>
              <a:rPr lang="en-US" sz="1400" dirty="0">
                <a:solidFill>
                  <a:schemeClr val="accent4"/>
                </a:solidFill>
              </a:rPr>
              <a:t>Top 3 models side by side, with one recommendation.</a:t>
            </a:r>
            <a:endParaRPr lang="en-US" sz="1400" dirty="0"/>
          </a:p>
        </p:txBody>
      </p:sp>
      <p:sp>
        <p:nvSpPr>
          <p:cNvPr id="13" name="Solution card 3"/>
          <p:cNvSpPr/>
          <p:nvPr/>
        </p:nvSpPr>
        <p:spPr>
          <a:xfrm>
            <a:off x="6126480" y="1280160"/>
            <a:ext cx="2560320" cy="2468880"/>
          </a:xfrm>
          <a:prstGeom prst="roundRect">
            <a:avLst>
              <a:gd name="adj" fmla="val 3704"/>
            </a:avLst>
          </a:prstGeom>
          <a:solidFill>
            <a:schemeClr val="bg2"/>
          </a:solidFill>
          <a:ln/>
        </p:spPr>
      </p:sp>
      <p:sp>
        <p:nvSpPr>
          <p:cNvPr id="14" name="Solution icon circle 3"/>
          <p:cNvSpPr/>
          <p:nvPr/>
        </p:nvSpPr>
        <p:spPr>
          <a:xfrm>
            <a:off x="6400800" y="1508760"/>
            <a:ext cx="640080" cy="640080"/>
          </a:xfrm>
          <a:prstGeom prst="ellipse">
            <a:avLst/>
          </a:prstGeom>
          <a:solidFill>
            <a:schemeClr val="accent1"/>
          </a:solidFill>
          <a:ln/>
        </p:spPr>
      </p:sp>
      <p:pic>
        <p:nvPicPr>
          <p:cNvPr id="15" name="Solution icon 3" descr="Easy to use">    </p:cNvPr>
          <p:cNvPicPr>
            <a:picLocks noChangeAspect="1"/>
          </p:cNvPicPr>
          <p:nvPr/>
        </p:nvPicPr>
        <p:blipFill>
          <a:blip r:embed="rId3"/>
          <a:stretch>
            <a:fillRect/>
          </a:stretch>
        </p:blipFill>
        <p:spPr>
          <a:xfrm>
            <a:off x="6556248" y="1664208"/>
            <a:ext cx="329184" cy="329184"/>
          </a:xfrm>
          <a:prstGeom prst="rect">
            <a:avLst/>
          </a:prstGeom>
        </p:spPr>
      </p:pic>
      <p:sp>
        <p:nvSpPr>
          <p:cNvPr id="16" name="Solution head 3"/>
          <p:cNvSpPr txBox="1"/>
          <p:nvPr/>
        </p:nvSpPr>
        <p:spPr>
          <a:xfrm>
            <a:off x="6400800" y="2331720"/>
            <a:ext cx="2103120" cy="548640"/>
          </a:xfrm>
          <a:prstGeom prst="rect">
            <a:avLst/>
          </a:prstGeom>
          <a:noFill/>
          <a:ln/>
        </p:spPr>
        <p:txBody>
          <a:bodyPr wrap="square" lIns="0" tIns="0" rIns="0" bIns="0" rtlCol="0" anchor="t"/>
          <a:lstStyle/>
          <a:p>
            <a:pPr indent="0" marL="0">
              <a:buNone/>
            </a:pPr>
            <a:r>
              <a:rPr lang="en-US" sz="1800" b="1" dirty="0">
                <a:solidFill>
                  <a:schemeClr val="tx1"/>
                </a:solidFill>
              </a:rPr>
              <a:t>Easy to use</a:t>
            </a:r>
            <a:endParaRPr lang="en-US" sz="1800" dirty="0"/>
          </a:p>
        </p:txBody>
      </p:sp>
      <p:sp>
        <p:nvSpPr>
          <p:cNvPr id="17" name="Solution desc 3"/>
          <p:cNvSpPr txBox="1"/>
          <p:nvPr/>
        </p:nvSpPr>
        <p:spPr>
          <a:xfrm>
            <a:off x="6400800" y="2926080"/>
            <a:ext cx="2103120" cy="731520"/>
          </a:xfrm>
          <a:prstGeom prst="rect">
            <a:avLst/>
          </a:prstGeom>
          <a:noFill/>
          <a:ln/>
        </p:spPr>
        <p:txBody>
          <a:bodyPr wrap="square" lIns="0" tIns="0" rIns="0" bIns="0" rtlCol="0" anchor="t"/>
          <a:lstStyle/>
          <a:p>
            <a:pPr indent="0" marL="0">
              <a:buNone/>
            </a:pPr>
            <a:r>
              <a:rPr lang="en-US" sz="1400" dirty="0">
                <a:solidFill>
                  <a:schemeClr val="accent4"/>
                </a:solidFill>
              </a:rPr>
              <a:t>Describe your business, upload documents, and you are done.</a:t>
            </a:r>
            <a:endParaRPr lang="en-US" sz="1400" dirty="0"/>
          </a:p>
        </p:txBody>
      </p:sp>
      <p:sp>
        <p:nvSpPr>
          <p:cNvPr id="18" name="Tagline banner"/>
          <p:cNvSpPr/>
          <p:nvPr/>
        </p:nvSpPr>
        <p:spPr>
          <a:xfrm>
            <a:off x="457200" y="3931920"/>
            <a:ext cx="8229600" cy="502920"/>
          </a:xfrm>
          <a:prstGeom prst="roundRect">
            <a:avLst>
              <a:gd name="adj" fmla="val 18182"/>
            </a:avLst>
          </a:prstGeom>
          <a:solidFill>
            <a:schemeClr val="accent1"/>
          </a:solidFill>
          <a:ln/>
        </p:spPr>
      </p:sp>
      <p:sp>
        <p:nvSpPr>
          <p:cNvPr id="19" name="Tagline"/>
          <p:cNvSpPr txBox="1"/>
          <p:nvPr/>
        </p:nvSpPr>
        <p:spPr>
          <a:xfrm>
            <a:off x="457200" y="3931920"/>
            <a:ext cx="8229600" cy="502920"/>
          </a:xfrm>
          <a:prstGeom prst="rect">
            <a:avLst/>
          </a:prstGeom>
          <a:noFill/>
          <a:ln/>
        </p:spPr>
        <p:txBody>
          <a:bodyPr wrap="square" lIns="0" tIns="0" rIns="0" bIns="0" rtlCol="0" anchor="ctr"/>
          <a:lstStyle/>
          <a:p>
            <a:pPr algn="ctr" indent="0" marL="0">
              <a:buNone/>
            </a:pPr>
            <a:r>
              <a:rPr lang="en-US" sz="1600" b="1" dirty="0">
                <a:solidFill>
                  <a:schemeClr val="bg1"/>
                </a:solidFill>
              </a:rPr>
              <a:t>The right model at the right price.</a:t>
            </a:r>
            <a:endParaRPr lang="en-US" sz="16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1. Describe your business</a:t>
            </a:r>
            <a:endParaRPr lang="en-US" sz="3000" dirty="0"/>
          </a:p>
        </p:txBody>
      </p:sp>
      <p:sp>
        <p:nvSpPr>
          <p:cNvPr id="3" name="Screen frame 1"/>
          <p:cNvSpPr/>
          <p:nvPr/>
        </p:nvSpPr>
        <p:spPr>
          <a:xfrm>
            <a:off x="1554480" y="1188720"/>
            <a:ext cx="6035040" cy="3154680"/>
          </a:xfrm>
          <a:prstGeom prst="rect">
            <a:avLst/>
          </a:prstGeom>
          <a:solidFill>
            <a:srgbClr val="FFFFFF"/>
          </a:solidFill>
          <a:ln w="12700">
            <a:solidFill>
              <a:schemeClr val="accent4"/>
            </a:solidFill>
            <a:prstDash val="solid"/>
          </a:ln>
        </p:spPr>
      </p:sp>
      <p:sp>
        <p:nvSpPr>
          <p:cNvPr id="4" name="Window bar 1"/>
          <p:cNvSpPr/>
          <p:nvPr/>
        </p:nvSpPr>
        <p:spPr>
          <a:xfrm>
            <a:off x="1554480" y="1188720"/>
            <a:ext cx="6035040" cy="292608"/>
          </a:xfrm>
          <a:prstGeom prst="rect">
            <a:avLst/>
          </a:prstGeom>
          <a:solidFill>
            <a:schemeClr val="bg2"/>
          </a:solidFill>
          <a:ln/>
        </p:spPr>
      </p:sp>
      <p:sp>
        <p:nvSpPr>
          <p:cNvPr id="5" name="Window dot 1-1"/>
          <p:cNvSpPr/>
          <p:nvPr/>
        </p:nvSpPr>
        <p:spPr>
          <a:xfrm>
            <a:off x="1691640" y="1280160"/>
            <a:ext cx="109728" cy="109728"/>
          </a:xfrm>
          <a:prstGeom prst="ellipse">
            <a:avLst/>
          </a:prstGeom>
          <a:solidFill>
            <a:schemeClr val="accent4"/>
          </a:solidFill>
          <a:ln/>
        </p:spPr>
      </p:sp>
      <p:sp>
        <p:nvSpPr>
          <p:cNvPr id="6" name="Window dot 2-1"/>
          <p:cNvSpPr/>
          <p:nvPr/>
        </p:nvSpPr>
        <p:spPr>
          <a:xfrm>
            <a:off x="1847088" y="1280160"/>
            <a:ext cx="109728" cy="109728"/>
          </a:xfrm>
          <a:prstGeom prst="ellipse">
            <a:avLst/>
          </a:prstGeom>
          <a:solidFill>
            <a:schemeClr val="accent4"/>
          </a:solidFill>
          <a:ln/>
        </p:spPr>
      </p:sp>
      <p:sp>
        <p:nvSpPr>
          <p:cNvPr id="7" name="Window dot 3-1"/>
          <p:cNvSpPr/>
          <p:nvPr/>
        </p:nvSpPr>
        <p:spPr>
          <a:xfrm>
            <a:off x="2002536" y="1280160"/>
            <a:ext cx="109728" cy="109728"/>
          </a:xfrm>
          <a:prstGeom prst="ellipse">
            <a:avLst/>
          </a:prstGeom>
          <a:solidFill>
            <a:schemeClr val="accent4"/>
          </a:solidFill>
          <a:ln/>
        </p:spPr>
      </p:sp>
      <p:sp>
        <p:nvSpPr>
          <p:cNvPr id="8" name="Prototype drop area 1"/>
          <p:cNvSpPr/>
          <p:nvPr/>
        </p:nvSpPr>
        <p:spPr>
          <a:xfrm>
            <a:off x="1737360" y="1645920"/>
            <a:ext cx="5669280" cy="2514600"/>
          </a:xfrm>
          <a:prstGeom prst="rect">
            <a:avLst/>
          </a:prstGeom>
          <a:solidFill>
            <a:srgbClr val="FFFFFF"/>
          </a:solidFill>
          <a:ln w="19050">
            <a:solidFill>
              <a:schemeClr val="accent1"/>
            </a:solidFill>
            <a:prstDash val="dash"/>
          </a:ln>
        </p:spPr>
      </p:sp>
      <p:sp>
        <p:nvSpPr>
          <p:cNvPr id="9" name="Prototype hint 1"/>
          <p:cNvSpPr txBox="1"/>
          <p:nvPr/>
        </p:nvSpPr>
        <p:spPr>
          <a:xfrm>
            <a:off x="1737360" y="1645920"/>
            <a:ext cx="5669280" cy="2514600"/>
          </a:xfrm>
          <a:prstGeom prst="rect">
            <a:avLst/>
          </a:prstGeom>
          <a:noFill/>
          <a:ln/>
        </p:spPr>
        <p:txBody>
          <a:bodyPr wrap="square" lIns="0" tIns="0" rIns="0" bIns="0" rtlCol="0" anchor="ctr"/>
          <a:lstStyle/>
          <a:p>
            <a:pPr algn="ctr" indent="0" marL="0">
              <a:buNone/>
            </a:pPr>
            <a:r>
              <a:rPr lang="en-US" sz="1800" b="1" dirty="0">
                <a:solidFill>
                  <a:schemeClr val="accent4"/>
                </a:solidFill>
              </a:rPr>
              <a:t>Insert prototype screen 1</a:t>
            </a:r>
            <a:endParaRPr lang="en-US" sz="1800" dirty="0"/>
          </a:p>
          <a:p>
            <a:pPr algn="ctr" indent="0" marL="0">
              <a:buNone/>
            </a:pPr>
            <a:r>
              <a:rPr lang="en-US" sz="1200" i="1" dirty="0">
                <a:solidFill>
                  <a:schemeClr val="accent4"/>
                </a:solidFill>
              </a:rPr>
              <a:t>Place your image over this frame, then delete this text</a:t>
            </a:r>
            <a:endParaRPr lang="en-US" sz="1800" dirty="0"/>
          </a:p>
        </p:txBody>
      </p:sp>
      <p:sp>
        <p:nvSpPr>
          <p:cNvPr id="10" name="Screen caption 1"/>
          <p:cNvSpPr txBox="1"/>
          <p:nvPr/>
        </p:nvSpPr>
        <p:spPr>
          <a:xfrm>
            <a:off x="1554480" y="4434840"/>
            <a:ext cx="6035040" cy="274320"/>
          </a:xfrm>
          <a:prstGeom prst="rect">
            <a:avLst/>
          </a:prstGeom>
          <a:noFill/>
          <a:ln/>
        </p:spPr>
        <p:txBody>
          <a:bodyPr wrap="square" lIns="0" tIns="0" rIns="0" bIns="0" rtlCol="0" anchor="t"/>
          <a:lstStyle/>
          <a:p>
            <a:pPr algn="ctr" indent="0" marL="0">
              <a:buNone/>
            </a:pPr>
            <a:r>
              <a:rPr lang="en-US" sz="1400" dirty="0">
                <a:solidFill>
                  <a:schemeClr val="accent4"/>
                </a:solidFill>
              </a:rPr>
              <a:t>The founder describes the business and uploads documents.</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2. Compare the top 3</a:t>
            </a:r>
            <a:endParaRPr lang="en-US" sz="3000" dirty="0"/>
          </a:p>
        </p:txBody>
      </p:sp>
      <p:sp>
        <p:nvSpPr>
          <p:cNvPr id="3" name="Screen frame 2"/>
          <p:cNvSpPr/>
          <p:nvPr/>
        </p:nvSpPr>
        <p:spPr>
          <a:xfrm>
            <a:off x="1554480" y="1188720"/>
            <a:ext cx="6035040" cy="3154680"/>
          </a:xfrm>
          <a:prstGeom prst="rect">
            <a:avLst/>
          </a:prstGeom>
          <a:solidFill>
            <a:srgbClr val="FFFFFF"/>
          </a:solidFill>
          <a:ln w="12700">
            <a:solidFill>
              <a:schemeClr val="accent4"/>
            </a:solidFill>
            <a:prstDash val="solid"/>
          </a:ln>
        </p:spPr>
      </p:sp>
      <p:sp>
        <p:nvSpPr>
          <p:cNvPr id="4" name="Window bar 2"/>
          <p:cNvSpPr/>
          <p:nvPr/>
        </p:nvSpPr>
        <p:spPr>
          <a:xfrm>
            <a:off x="1554480" y="1188720"/>
            <a:ext cx="6035040" cy="292608"/>
          </a:xfrm>
          <a:prstGeom prst="rect">
            <a:avLst/>
          </a:prstGeom>
          <a:solidFill>
            <a:schemeClr val="bg2"/>
          </a:solidFill>
          <a:ln/>
        </p:spPr>
      </p:sp>
      <p:sp>
        <p:nvSpPr>
          <p:cNvPr id="5" name="Window dot 1-2"/>
          <p:cNvSpPr/>
          <p:nvPr/>
        </p:nvSpPr>
        <p:spPr>
          <a:xfrm>
            <a:off x="1691640" y="1280160"/>
            <a:ext cx="109728" cy="109728"/>
          </a:xfrm>
          <a:prstGeom prst="ellipse">
            <a:avLst/>
          </a:prstGeom>
          <a:solidFill>
            <a:schemeClr val="accent4"/>
          </a:solidFill>
          <a:ln/>
        </p:spPr>
      </p:sp>
      <p:sp>
        <p:nvSpPr>
          <p:cNvPr id="6" name="Window dot 2-2"/>
          <p:cNvSpPr/>
          <p:nvPr/>
        </p:nvSpPr>
        <p:spPr>
          <a:xfrm>
            <a:off x="1847088" y="1280160"/>
            <a:ext cx="109728" cy="109728"/>
          </a:xfrm>
          <a:prstGeom prst="ellipse">
            <a:avLst/>
          </a:prstGeom>
          <a:solidFill>
            <a:schemeClr val="accent4"/>
          </a:solidFill>
          <a:ln/>
        </p:spPr>
      </p:sp>
      <p:sp>
        <p:nvSpPr>
          <p:cNvPr id="7" name="Window dot 3-2"/>
          <p:cNvSpPr/>
          <p:nvPr/>
        </p:nvSpPr>
        <p:spPr>
          <a:xfrm>
            <a:off x="2002536" y="1280160"/>
            <a:ext cx="109728" cy="109728"/>
          </a:xfrm>
          <a:prstGeom prst="ellipse">
            <a:avLst/>
          </a:prstGeom>
          <a:solidFill>
            <a:schemeClr val="accent4"/>
          </a:solidFill>
          <a:ln/>
        </p:spPr>
      </p:sp>
      <p:sp>
        <p:nvSpPr>
          <p:cNvPr id="8" name="Prototype drop area 2"/>
          <p:cNvSpPr/>
          <p:nvPr/>
        </p:nvSpPr>
        <p:spPr>
          <a:xfrm>
            <a:off x="1737360" y="1645920"/>
            <a:ext cx="5669280" cy="2514600"/>
          </a:xfrm>
          <a:prstGeom prst="rect">
            <a:avLst/>
          </a:prstGeom>
          <a:solidFill>
            <a:srgbClr val="FFFFFF"/>
          </a:solidFill>
          <a:ln w="19050">
            <a:solidFill>
              <a:schemeClr val="accent1"/>
            </a:solidFill>
            <a:prstDash val="dash"/>
          </a:ln>
        </p:spPr>
      </p:sp>
      <p:sp>
        <p:nvSpPr>
          <p:cNvPr id="9" name="Prototype hint 2"/>
          <p:cNvSpPr txBox="1"/>
          <p:nvPr/>
        </p:nvSpPr>
        <p:spPr>
          <a:xfrm>
            <a:off x="1737360" y="1645920"/>
            <a:ext cx="5669280" cy="2514600"/>
          </a:xfrm>
          <a:prstGeom prst="rect">
            <a:avLst/>
          </a:prstGeom>
          <a:noFill/>
          <a:ln/>
        </p:spPr>
        <p:txBody>
          <a:bodyPr wrap="square" lIns="0" tIns="0" rIns="0" bIns="0" rtlCol="0" anchor="ctr"/>
          <a:lstStyle/>
          <a:p>
            <a:pPr algn="ctr" indent="0" marL="0">
              <a:buNone/>
            </a:pPr>
            <a:r>
              <a:rPr lang="en-US" sz="1800" b="1" dirty="0">
                <a:solidFill>
                  <a:schemeClr val="accent4"/>
                </a:solidFill>
              </a:rPr>
              <a:t>Insert prototype screen 2</a:t>
            </a:r>
            <a:endParaRPr lang="en-US" sz="1800" dirty="0"/>
          </a:p>
          <a:p>
            <a:pPr algn="ctr" indent="0" marL="0">
              <a:buNone/>
            </a:pPr>
            <a:r>
              <a:rPr lang="en-US" sz="1200" i="1" dirty="0">
                <a:solidFill>
                  <a:schemeClr val="accent4"/>
                </a:solidFill>
              </a:rPr>
              <a:t>Place your image over this frame, then delete this text</a:t>
            </a:r>
            <a:endParaRPr lang="en-US" sz="1800" dirty="0"/>
          </a:p>
        </p:txBody>
      </p:sp>
      <p:sp>
        <p:nvSpPr>
          <p:cNvPr id="10" name="Screen caption 2"/>
          <p:cNvSpPr txBox="1"/>
          <p:nvPr/>
        </p:nvSpPr>
        <p:spPr>
          <a:xfrm>
            <a:off x="1554480" y="4434840"/>
            <a:ext cx="6035040" cy="274320"/>
          </a:xfrm>
          <a:prstGeom prst="rect">
            <a:avLst/>
          </a:prstGeom>
          <a:noFill/>
          <a:ln/>
        </p:spPr>
        <p:txBody>
          <a:bodyPr wrap="square" lIns="0" tIns="0" rIns="0" bIns="0" rtlCol="0" anchor="t"/>
          <a:lstStyle/>
          <a:p>
            <a:pPr algn="ctr" indent="0" marL="0">
              <a:buNone/>
            </a:pPr>
            <a:r>
              <a:rPr lang="en-US" sz="1400" dirty="0">
                <a:solidFill>
                  <a:schemeClr val="accent4"/>
                </a:solidFill>
              </a:rPr>
              <a:t>BenchCraft lists the top 3 models that fit, side by side.</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3. Get one recommendation</a:t>
            </a:r>
            <a:endParaRPr lang="en-US" sz="3000" dirty="0"/>
          </a:p>
        </p:txBody>
      </p:sp>
      <p:sp>
        <p:nvSpPr>
          <p:cNvPr id="3" name="Screen frame 3"/>
          <p:cNvSpPr/>
          <p:nvPr/>
        </p:nvSpPr>
        <p:spPr>
          <a:xfrm>
            <a:off x="1554480" y="1188720"/>
            <a:ext cx="6035040" cy="3154680"/>
          </a:xfrm>
          <a:prstGeom prst="rect">
            <a:avLst/>
          </a:prstGeom>
          <a:solidFill>
            <a:srgbClr val="FFFFFF"/>
          </a:solidFill>
          <a:ln w="12700">
            <a:solidFill>
              <a:schemeClr val="accent4"/>
            </a:solidFill>
            <a:prstDash val="solid"/>
          </a:ln>
        </p:spPr>
      </p:sp>
      <p:sp>
        <p:nvSpPr>
          <p:cNvPr id="4" name="Window bar 3"/>
          <p:cNvSpPr/>
          <p:nvPr/>
        </p:nvSpPr>
        <p:spPr>
          <a:xfrm>
            <a:off x="1554480" y="1188720"/>
            <a:ext cx="6035040" cy="292608"/>
          </a:xfrm>
          <a:prstGeom prst="rect">
            <a:avLst/>
          </a:prstGeom>
          <a:solidFill>
            <a:schemeClr val="bg2"/>
          </a:solidFill>
          <a:ln/>
        </p:spPr>
      </p:sp>
      <p:sp>
        <p:nvSpPr>
          <p:cNvPr id="5" name="Window dot 1-3"/>
          <p:cNvSpPr/>
          <p:nvPr/>
        </p:nvSpPr>
        <p:spPr>
          <a:xfrm>
            <a:off x="1691640" y="1280160"/>
            <a:ext cx="109728" cy="109728"/>
          </a:xfrm>
          <a:prstGeom prst="ellipse">
            <a:avLst/>
          </a:prstGeom>
          <a:solidFill>
            <a:schemeClr val="accent4"/>
          </a:solidFill>
          <a:ln/>
        </p:spPr>
      </p:sp>
      <p:sp>
        <p:nvSpPr>
          <p:cNvPr id="6" name="Window dot 2-3"/>
          <p:cNvSpPr/>
          <p:nvPr/>
        </p:nvSpPr>
        <p:spPr>
          <a:xfrm>
            <a:off x="1847088" y="1280160"/>
            <a:ext cx="109728" cy="109728"/>
          </a:xfrm>
          <a:prstGeom prst="ellipse">
            <a:avLst/>
          </a:prstGeom>
          <a:solidFill>
            <a:schemeClr val="accent4"/>
          </a:solidFill>
          <a:ln/>
        </p:spPr>
      </p:sp>
      <p:sp>
        <p:nvSpPr>
          <p:cNvPr id="7" name="Window dot 3-3"/>
          <p:cNvSpPr/>
          <p:nvPr/>
        </p:nvSpPr>
        <p:spPr>
          <a:xfrm>
            <a:off x="2002536" y="1280160"/>
            <a:ext cx="109728" cy="109728"/>
          </a:xfrm>
          <a:prstGeom prst="ellipse">
            <a:avLst/>
          </a:prstGeom>
          <a:solidFill>
            <a:schemeClr val="accent4"/>
          </a:solidFill>
          <a:ln/>
        </p:spPr>
      </p:sp>
      <p:sp>
        <p:nvSpPr>
          <p:cNvPr id="8" name="Prototype drop area 3"/>
          <p:cNvSpPr/>
          <p:nvPr/>
        </p:nvSpPr>
        <p:spPr>
          <a:xfrm>
            <a:off x="1737360" y="1645920"/>
            <a:ext cx="5669280" cy="2514600"/>
          </a:xfrm>
          <a:prstGeom prst="rect">
            <a:avLst/>
          </a:prstGeom>
          <a:solidFill>
            <a:srgbClr val="FFFFFF"/>
          </a:solidFill>
          <a:ln w="19050">
            <a:solidFill>
              <a:schemeClr val="accent1"/>
            </a:solidFill>
            <a:prstDash val="dash"/>
          </a:ln>
        </p:spPr>
      </p:sp>
      <p:sp>
        <p:nvSpPr>
          <p:cNvPr id="9" name="Prototype hint 3"/>
          <p:cNvSpPr txBox="1"/>
          <p:nvPr/>
        </p:nvSpPr>
        <p:spPr>
          <a:xfrm>
            <a:off x="1737360" y="1645920"/>
            <a:ext cx="5669280" cy="2514600"/>
          </a:xfrm>
          <a:prstGeom prst="rect">
            <a:avLst/>
          </a:prstGeom>
          <a:noFill/>
          <a:ln/>
        </p:spPr>
        <p:txBody>
          <a:bodyPr wrap="square" lIns="0" tIns="0" rIns="0" bIns="0" rtlCol="0" anchor="ctr"/>
          <a:lstStyle/>
          <a:p>
            <a:pPr algn="ctr" indent="0" marL="0">
              <a:buNone/>
            </a:pPr>
            <a:r>
              <a:rPr lang="en-US" sz="1800" b="1" dirty="0">
                <a:solidFill>
                  <a:schemeClr val="accent4"/>
                </a:solidFill>
              </a:rPr>
              <a:t>Insert prototype screen 3</a:t>
            </a:r>
            <a:endParaRPr lang="en-US" sz="1800" dirty="0"/>
          </a:p>
          <a:p>
            <a:pPr algn="ctr" indent="0" marL="0">
              <a:buNone/>
            </a:pPr>
            <a:r>
              <a:rPr lang="en-US" sz="1200" i="1" dirty="0">
                <a:solidFill>
                  <a:schemeClr val="accent4"/>
                </a:solidFill>
              </a:rPr>
              <a:t>Place your image over this frame, then delete this text</a:t>
            </a:r>
            <a:endParaRPr lang="en-US" sz="1800" dirty="0"/>
          </a:p>
        </p:txBody>
      </p:sp>
      <p:sp>
        <p:nvSpPr>
          <p:cNvPr id="10" name="Screen caption 3"/>
          <p:cNvSpPr txBox="1"/>
          <p:nvPr/>
        </p:nvSpPr>
        <p:spPr>
          <a:xfrm>
            <a:off x="1554480" y="4434840"/>
            <a:ext cx="6035040" cy="274320"/>
          </a:xfrm>
          <a:prstGeom prst="rect">
            <a:avLst/>
          </a:prstGeom>
          <a:noFill/>
          <a:ln/>
        </p:spPr>
        <p:txBody>
          <a:bodyPr wrap="square" lIns="0" tIns="0" rIns="0" bIns="0" rtlCol="0" anchor="t"/>
          <a:lstStyle/>
          <a:p>
            <a:pPr algn="ctr" indent="0" marL="0">
              <a:buNone/>
            </a:pPr>
            <a:r>
              <a:rPr lang="en-US" sz="1400" dirty="0">
                <a:solidFill>
                  <a:schemeClr val="accent4"/>
                </a:solidFill>
              </a:rPr>
              <a:t>One clear recommendation, with the reasons behind it.</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Why BenchCraft works</a:t>
            </a:r>
            <a:endParaRPr lang="en-US" sz="3000" dirty="0"/>
          </a:p>
        </p:txBody>
      </p:sp>
      <p:sp>
        <p:nvSpPr>
          <p:cNvPr id="3" name="Reason icon circle 1"/>
          <p:cNvSpPr/>
          <p:nvPr/>
        </p:nvSpPr>
        <p:spPr>
          <a:xfrm>
            <a:off x="457200" y="1325880"/>
            <a:ext cx="640080" cy="640080"/>
          </a:xfrm>
          <a:prstGeom prst="ellipse">
            <a:avLst/>
          </a:prstGeom>
          <a:solidFill>
            <a:schemeClr val="accent1"/>
          </a:solidFill>
          <a:ln/>
        </p:spPr>
      </p:sp>
      <p:pic>
        <p:nvPicPr>
          <p:cNvPr id="4" name="Reason icon 1" descr="We learn from your business">    </p:cNvPr>
          <p:cNvPicPr>
            <a:picLocks noChangeAspect="1"/>
          </p:cNvPicPr>
          <p:nvPr/>
        </p:nvPicPr>
        <p:blipFill>
          <a:blip r:embed="rId1"/>
          <a:stretch>
            <a:fillRect/>
          </a:stretch>
        </p:blipFill>
        <p:spPr>
          <a:xfrm>
            <a:off x="612648" y="1481328"/>
            <a:ext cx="329184" cy="329184"/>
          </a:xfrm>
          <a:prstGeom prst="rect">
            <a:avLst/>
          </a:prstGeom>
        </p:spPr>
      </p:pic>
      <p:sp>
        <p:nvSpPr>
          <p:cNvPr id="5" name="Reason text 1"/>
          <p:cNvSpPr txBox="1"/>
          <p:nvPr/>
        </p:nvSpPr>
        <p:spPr>
          <a:xfrm>
            <a:off x="1325880" y="1325880"/>
            <a:ext cx="3840480" cy="822960"/>
          </a:xfrm>
          <a:prstGeom prst="rect">
            <a:avLst/>
          </a:prstGeom>
          <a:noFill/>
          <a:ln/>
        </p:spPr>
        <p:txBody>
          <a:bodyPr wrap="square" lIns="0" tIns="0" rIns="0" bIns="0" rtlCol="0" anchor="ctr"/>
          <a:lstStyle/>
          <a:p>
            <a:pPr indent="0" marL="0">
              <a:buNone/>
            </a:pPr>
            <a:r>
              <a:rPr lang="en-US" sz="1800" b="1" dirty="0">
                <a:solidFill>
                  <a:schemeClr val="tx1"/>
                </a:solidFill>
              </a:rPr>
              <a:t>We learn from your business</a:t>
            </a:r>
            <a:endParaRPr lang="en-US" sz="1800" dirty="0"/>
          </a:p>
          <a:p>
            <a:pPr indent="0" marL="0">
              <a:buNone/>
            </a:pPr>
            <a:r>
              <a:rPr lang="en-US" sz="1400" dirty="0">
                <a:solidFill>
                  <a:schemeClr val="accent4"/>
                </a:solidFill>
              </a:rPr>
              <a:t>Your description and your documents.</a:t>
            </a:r>
            <a:endParaRPr lang="en-US" sz="1800" dirty="0"/>
          </a:p>
        </p:txBody>
      </p:sp>
      <p:sp>
        <p:nvSpPr>
          <p:cNvPr id="6" name="Reason icon circle 2"/>
          <p:cNvSpPr/>
          <p:nvPr/>
        </p:nvSpPr>
        <p:spPr>
          <a:xfrm>
            <a:off x="457200" y="2377440"/>
            <a:ext cx="640080" cy="640080"/>
          </a:xfrm>
          <a:prstGeom prst="ellipse">
            <a:avLst/>
          </a:prstGeom>
          <a:solidFill>
            <a:schemeClr val="accent1"/>
          </a:solidFill>
          <a:ln/>
        </p:spPr>
      </p:sp>
      <p:pic>
        <p:nvPicPr>
          <p:cNvPr id="7" name="Reason icon 2" descr="We pick models for your use case">    </p:cNvPr>
          <p:cNvPicPr>
            <a:picLocks noChangeAspect="1"/>
          </p:cNvPicPr>
          <p:nvPr/>
        </p:nvPicPr>
        <p:blipFill>
          <a:blip r:embed="rId2"/>
          <a:stretch>
            <a:fillRect/>
          </a:stretch>
        </p:blipFill>
        <p:spPr>
          <a:xfrm>
            <a:off x="612648" y="2532888"/>
            <a:ext cx="329184" cy="329184"/>
          </a:xfrm>
          <a:prstGeom prst="rect">
            <a:avLst/>
          </a:prstGeom>
        </p:spPr>
      </p:pic>
      <p:sp>
        <p:nvSpPr>
          <p:cNvPr id="8" name="Reason text 2"/>
          <p:cNvSpPr txBox="1"/>
          <p:nvPr/>
        </p:nvSpPr>
        <p:spPr>
          <a:xfrm>
            <a:off x="1325880" y="2377440"/>
            <a:ext cx="3840480" cy="822960"/>
          </a:xfrm>
          <a:prstGeom prst="rect">
            <a:avLst/>
          </a:prstGeom>
          <a:noFill/>
          <a:ln/>
        </p:spPr>
        <p:txBody>
          <a:bodyPr wrap="square" lIns="0" tIns="0" rIns="0" bIns="0" rtlCol="0" anchor="ctr"/>
          <a:lstStyle/>
          <a:p>
            <a:pPr indent="0" marL="0">
              <a:buNone/>
            </a:pPr>
            <a:r>
              <a:rPr lang="en-US" sz="1800" b="1" dirty="0">
                <a:solidFill>
                  <a:schemeClr val="tx1"/>
                </a:solidFill>
              </a:rPr>
              <a:t>We pick models for your use case</a:t>
            </a:r>
            <a:endParaRPr lang="en-US" sz="1800" dirty="0"/>
          </a:p>
          <a:p>
            <a:pPr indent="0" marL="0">
              <a:buNone/>
            </a:pPr>
            <a:r>
              <a:rPr lang="en-US" sz="1400" dirty="0">
                <a:solidFill>
                  <a:schemeClr val="accent4"/>
                </a:solidFill>
              </a:rPr>
              <a:t>Not a generic leaderboard.</a:t>
            </a:r>
            <a:endParaRPr lang="en-US" sz="1800" dirty="0"/>
          </a:p>
        </p:txBody>
      </p:sp>
      <p:sp>
        <p:nvSpPr>
          <p:cNvPr id="9" name="Reason icon circle 3"/>
          <p:cNvSpPr/>
          <p:nvPr/>
        </p:nvSpPr>
        <p:spPr>
          <a:xfrm>
            <a:off x="457200" y="3429000"/>
            <a:ext cx="640080" cy="640080"/>
          </a:xfrm>
          <a:prstGeom prst="ellipse">
            <a:avLst/>
          </a:prstGeom>
          <a:solidFill>
            <a:schemeClr val="accent1"/>
          </a:solidFill>
          <a:ln/>
        </p:spPr>
      </p:sp>
      <p:pic>
        <p:nvPicPr>
          <p:cNvPr id="10" name="Reason icon 3" descr="We save you from the wrong choice">    </p:cNvPr>
          <p:cNvPicPr>
            <a:picLocks noChangeAspect="1"/>
          </p:cNvPicPr>
          <p:nvPr/>
        </p:nvPicPr>
        <p:blipFill>
          <a:blip r:embed="rId3"/>
          <a:stretch>
            <a:fillRect/>
          </a:stretch>
        </p:blipFill>
        <p:spPr>
          <a:xfrm>
            <a:off x="612648" y="3584448"/>
            <a:ext cx="329184" cy="329184"/>
          </a:xfrm>
          <a:prstGeom prst="rect">
            <a:avLst/>
          </a:prstGeom>
        </p:spPr>
      </p:pic>
      <p:sp>
        <p:nvSpPr>
          <p:cNvPr id="11" name="Reason text 3"/>
          <p:cNvSpPr txBox="1"/>
          <p:nvPr/>
        </p:nvSpPr>
        <p:spPr>
          <a:xfrm>
            <a:off x="1325880" y="3429000"/>
            <a:ext cx="3840480" cy="822960"/>
          </a:xfrm>
          <a:prstGeom prst="rect">
            <a:avLst/>
          </a:prstGeom>
          <a:noFill/>
          <a:ln/>
        </p:spPr>
        <p:txBody>
          <a:bodyPr wrap="square" lIns="0" tIns="0" rIns="0" bIns="0" rtlCol="0" anchor="ctr"/>
          <a:lstStyle/>
          <a:p>
            <a:pPr indent="0" marL="0">
              <a:buNone/>
            </a:pPr>
            <a:r>
              <a:rPr lang="en-US" sz="1800" b="1" dirty="0">
                <a:solidFill>
                  <a:schemeClr val="tx1"/>
                </a:solidFill>
              </a:rPr>
              <a:t>We save you from the wrong choice</a:t>
            </a:r>
            <a:endParaRPr lang="en-US" sz="1800" dirty="0"/>
          </a:p>
          <a:p>
            <a:pPr indent="0" marL="0">
              <a:buNone/>
            </a:pPr>
            <a:r>
              <a:rPr lang="en-US" sz="1400" dirty="0">
                <a:solidFill>
                  <a:schemeClr val="accent4"/>
                </a:solidFill>
              </a:rPr>
              <a:t>No overspending, no weak quality.</a:t>
            </a:r>
            <a:endParaRPr lang="en-US" sz="1800" dirty="0"/>
          </a:p>
        </p:txBody>
      </p:sp>
      <p:sp>
        <p:nvSpPr>
          <p:cNvPr id="12" name="Stat card"/>
          <p:cNvSpPr/>
          <p:nvPr/>
        </p:nvSpPr>
        <p:spPr>
          <a:xfrm>
            <a:off x="5486400" y="1325880"/>
            <a:ext cx="3200400" cy="3017520"/>
          </a:xfrm>
          <a:prstGeom prst="roundRect">
            <a:avLst>
              <a:gd name="adj" fmla="val 3030"/>
            </a:avLst>
          </a:prstGeom>
          <a:solidFill>
            <a:schemeClr val="accent1"/>
          </a:solidFill>
          <a:ln/>
        </p:spPr>
      </p:sp>
      <p:sp>
        <p:nvSpPr>
          <p:cNvPr id="13" name="Stat figure"/>
          <p:cNvSpPr txBox="1"/>
          <p:nvPr/>
        </p:nvSpPr>
        <p:spPr>
          <a:xfrm>
            <a:off x="5486400" y="1737360"/>
            <a:ext cx="3200400" cy="1097280"/>
          </a:xfrm>
          <a:prstGeom prst="rect">
            <a:avLst/>
          </a:prstGeom>
          <a:noFill/>
          <a:ln/>
        </p:spPr>
        <p:txBody>
          <a:bodyPr wrap="square" lIns="0" tIns="0" rIns="0" bIns="0" rtlCol="0" anchor="ctr"/>
          <a:lstStyle/>
          <a:p>
            <a:pPr algn="ctr" indent="0" marL="0">
              <a:buNone/>
            </a:pPr>
            <a:r>
              <a:rPr lang="en-US" sz="7200" b="1" dirty="0">
                <a:solidFill>
                  <a:schemeClr val="bg1"/>
                </a:solidFill>
                <a:latin typeface="+mj-lt" pitchFamily="34" charset="0"/>
                <a:ea typeface="+mj-lt" pitchFamily="34" charset="-122"/>
                <a:cs typeface="+mj-lt" pitchFamily="34" charset="-120"/>
              </a:rPr>
              <a:t>90%</a:t>
            </a:r>
            <a:endParaRPr lang="en-US" sz="7200" dirty="0"/>
          </a:p>
        </p:txBody>
      </p:sp>
      <p:sp>
        <p:nvSpPr>
          <p:cNvPr id="14" name="Stat label"/>
          <p:cNvSpPr txBox="1"/>
          <p:nvPr/>
        </p:nvSpPr>
        <p:spPr>
          <a:xfrm>
            <a:off x="5760720" y="2926080"/>
            <a:ext cx="2651760" cy="640080"/>
          </a:xfrm>
          <a:prstGeom prst="rect">
            <a:avLst/>
          </a:prstGeom>
          <a:noFill/>
          <a:ln/>
        </p:spPr>
        <p:txBody>
          <a:bodyPr wrap="square" lIns="0" tIns="0" rIns="0" bIns="0" rtlCol="0" anchor="t"/>
          <a:lstStyle/>
          <a:p>
            <a:pPr algn="ctr" indent="0" marL="0">
              <a:buNone/>
            </a:pPr>
            <a:r>
              <a:rPr lang="en-US" sz="1800" b="1" dirty="0">
                <a:solidFill>
                  <a:schemeClr val="bg1"/>
                </a:solidFill>
              </a:rPr>
              <a:t>less time to compare models</a:t>
            </a:r>
            <a:endParaRPr lang="en-US" sz="1800" dirty="0"/>
          </a:p>
        </p:txBody>
      </p:sp>
      <p:sp>
        <p:nvSpPr>
          <p:cNvPr id="15" name="Stat qualifier"/>
          <p:cNvSpPr txBox="1"/>
          <p:nvPr/>
        </p:nvSpPr>
        <p:spPr>
          <a:xfrm>
            <a:off x="5760720" y="3657600"/>
            <a:ext cx="2651760" cy="274320"/>
          </a:xfrm>
          <a:prstGeom prst="rect">
            <a:avLst/>
          </a:prstGeom>
          <a:noFill/>
          <a:ln/>
        </p:spPr>
        <p:txBody>
          <a:bodyPr wrap="square" lIns="0" tIns="0" rIns="0" bIns="0" rtlCol="0" anchor="t"/>
          <a:lstStyle/>
          <a:p>
            <a:pPr algn="ctr" indent="0" marL="0">
              <a:buNone/>
            </a:pPr>
            <a:r>
              <a:rPr lang="en-US" sz="1200" i="1" dirty="0">
                <a:solidFill>
                  <a:schemeClr val="bg2"/>
                </a:solidFill>
              </a:rPr>
              <a:t>Our target</a:t>
            </a:r>
            <a:endParaRPr lang="en-US" sz="12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We earn on every comparison</a:t>
            </a:r>
            <a:endParaRPr lang="en-US" sz="3000" dirty="0"/>
          </a:p>
        </p:txBody>
      </p:sp>
      <p:sp>
        <p:nvSpPr>
          <p:cNvPr id="3" name="Model summary"/>
          <p:cNvSpPr txBox="1"/>
          <p:nvPr/>
        </p:nvSpPr>
        <p:spPr>
          <a:xfrm>
            <a:off x="457200" y="1188720"/>
            <a:ext cx="8229600" cy="548640"/>
          </a:xfrm>
          <a:prstGeom prst="rect">
            <a:avLst/>
          </a:prstGeom>
          <a:noFill/>
          <a:ln/>
        </p:spPr>
        <p:txBody>
          <a:bodyPr wrap="square" lIns="0" tIns="0" rIns="0" bIns="0" rtlCol="0" anchor="t"/>
          <a:lstStyle/>
          <a:p>
            <a:pPr indent="0" marL="0">
              <a:buNone/>
            </a:pPr>
            <a:r>
              <a:rPr lang="en-US" sz="1800" dirty="0">
                <a:solidFill>
                  <a:schemeClr val="tx1"/>
                </a:solidFill>
              </a:rPr>
              <a:t>$29 per month includes 20 comparisons, about $1.45 earned per comparison at full use.</a:t>
            </a:r>
            <a:endParaRPr lang="en-US" sz="1800" dirty="0"/>
          </a:p>
        </p:txBody>
      </p:sp>
      <p:sp>
        <p:nvSpPr>
          <p:cNvPr id="4" name="Model card 1"/>
          <p:cNvSpPr/>
          <p:nvPr/>
        </p:nvSpPr>
        <p:spPr>
          <a:xfrm>
            <a:off x="457200" y="1920240"/>
            <a:ext cx="2560320" cy="2103120"/>
          </a:xfrm>
          <a:prstGeom prst="roundRect">
            <a:avLst>
              <a:gd name="adj" fmla="val 4348"/>
            </a:avLst>
          </a:prstGeom>
          <a:solidFill>
            <a:schemeClr val="bg2"/>
          </a:solidFill>
          <a:ln/>
        </p:spPr>
      </p:sp>
      <p:sp>
        <p:nvSpPr>
          <p:cNvPr id="5" name="Model figure 1"/>
          <p:cNvSpPr txBox="1"/>
          <p:nvPr/>
        </p:nvSpPr>
        <p:spPr>
          <a:xfrm>
            <a:off x="457200" y="2057400"/>
            <a:ext cx="2560320"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mj-lt" pitchFamily="34" charset="0"/>
                <a:ea typeface="+mj-lt" pitchFamily="34" charset="-122"/>
                <a:cs typeface="+mj-lt" pitchFamily="34" charset="-120"/>
              </a:rPr>
              <a:t>$29</a:t>
            </a:r>
            <a:endParaRPr lang="en-US" sz="4400" dirty="0"/>
          </a:p>
        </p:txBody>
      </p:sp>
      <p:sp>
        <p:nvSpPr>
          <p:cNvPr id="6" name="Model label 1"/>
          <p:cNvSpPr txBox="1"/>
          <p:nvPr/>
        </p:nvSpPr>
        <p:spPr>
          <a:xfrm>
            <a:off x="685800" y="3017520"/>
            <a:ext cx="2103120" cy="822960"/>
          </a:xfrm>
          <a:prstGeom prst="rect">
            <a:avLst/>
          </a:prstGeom>
          <a:noFill/>
          <a:ln/>
        </p:spPr>
        <p:txBody>
          <a:bodyPr wrap="square" lIns="0" tIns="0" rIns="0" bIns="0" rtlCol="0" anchor="t"/>
          <a:lstStyle/>
          <a:p>
            <a:pPr algn="ctr" indent="0" marL="0">
              <a:buNone/>
            </a:pPr>
            <a:r>
              <a:rPr lang="en-US" sz="1400" dirty="0">
                <a:solidFill>
                  <a:schemeClr val="tx1"/>
                </a:solidFill>
              </a:rPr>
              <a:t>per month, Pro plan</a:t>
            </a:r>
            <a:endParaRPr lang="en-US" sz="1400" dirty="0"/>
          </a:p>
        </p:txBody>
      </p:sp>
      <p:sp>
        <p:nvSpPr>
          <p:cNvPr id="7" name="Model card 2"/>
          <p:cNvSpPr/>
          <p:nvPr/>
        </p:nvSpPr>
        <p:spPr>
          <a:xfrm>
            <a:off x="3291840" y="1920240"/>
            <a:ext cx="2560320" cy="2103120"/>
          </a:xfrm>
          <a:prstGeom prst="roundRect">
            <a:avLst>
              <a:gd name="adj" fmla="val 4348"/>
            </a:avLst>
          </a:prstGeom>
          <a:solidFill>
            <a:schemeClr val="accent1"/>
          </a:solidFill>
          <a:ln/>
        </p:spPr>
      </p:sp>
      <p:sp>
        <p:nvSpPr>
          <p:cNvPr id="8" name="Model figure 2"/>
          <p:cNvSpPr txBox="1"/>
          <p:nvPr/>
        </p:nvSpPr>
        <p:spPr>
          <a:xfrm>
            <a:off x="3291840" y="2057400"/>
            <a:ext cx="2560320" cy="914400"/>
          </a:xfrm>
          <a:prstGeom prst="rect">
            <a:avLst/>
          </a:prstGeom>
          <a:noFill/>
          <a:ln/>
        </p:spPr>
        <p:txBody>
          <a:bodyPr wrap="square" lIns="0" tIns="0" rIns="0" bIns="0" rtlCol="0" anchor="ctr"/>
          <a:lstStyle/>
          <a:p>
            <a:pPr algn="ctr" indent="0" marL="0">
              <a:buNone/>
            </a:pPr>
            <a:r>
              <a:rPr lang="en-US" sz="4400" b="1" dirty="0">
                <a:solidFill>
                  <a:schemeClr val="bg1"/>
                </a:solidFill>
                <a:latin typeface="+mj-lt" pitchFamily="34" charset="0"/>
                <a:ea typeface="+mj-lt" pitchFamily="34" charset="-122"/>
                <a:cs typeface="+mj-lt" pitchFamily="34" charset="-120"/>
              </a:rPr>
              <a:t>68.5%</a:t>
            </a:r>
            <a:endParaRPr lang="en-US" sz="4400" dirty="0"/>
          </a:p>
        </p:txBody>
      </p:sp>
      <p:sp>
        <p:nvSpPr>
          <p:cNvPr id="9" name="Model label 2"/>
          <p:cNvSpPr txBox="1"/>
          <p:nvPr/>
        </p:nvSpPr>
        <p:spPr>
          <a:xfrm>
            <a:off x="3520440" y="3017520"/>
            <a:ext cx="2103120" cy="822960"/>
          </a:xfrm>
          <a:prstGeom prst="rect">
            <a:avLst/>
          </a:prstGeom>
          <a:noFill/>
          <a:ln/>
        </p:spPr>
        <p:txBody>
          <a:bodyPr wrap="square" lIns="0" tIns="0" rIns="0" bIns="0" rtlCol="0" anchor="t"/>
          <a:lstStyle/>
          <a:p>
            <a:pPr algn="ctr" indent="0" marL="0">
              <a:buNone/>
            </a:pPr>
            <a:r>
              <a:rPr lang="en-US" sz="1400" dirty="0">
                <a:solidFill>
                  <a:schemeClr val="bg1"/>
                </a:solidFill>
              </a:rPr>
              <a:t>margin per subscriber ($19.86)</a:t>
            </a:r>
            <a:endParaRPr lang="en-US" sz="1400" dirty="0"/>
          </a:p>
        </p:txBody>
      </p:sp>
      <p:sp>
        <p:nvSpPr>
          <p:cNvPr id="10" name="Model card 3"/>
          <p:cNvSpPr/>
          <p:nvPr/>
        </p:nvSpPr>
        <p:spPr>
          <a:xfrm>
            <a:off x="6126480" y="1920240"/>
            <a:ext cx="2560320" cy="2103120"/>
          </a:xfrm>
          <a:prstGeom prst="roundRect">
            <a:avLst>
              <a:gd name="adj" fmla="val 4348"/>
            </a:avLst>
          </a:prstGeom>
          <a:solidFill>
            <a:schemeClr val="bg2"/>
          </a:solidFill>
          <a:ln/>
        </p:spPr>
      </p:sp>
      <p:sp>
        <p:nvSpPr>
          <p:cNvPr id="11" name="Model figure 3"/>
          <p:cNvSpPr txBox="1"/>
          <p:nvPr/>
        </p:nvSpPr>
        <p:spPr>
          <a:xfrm>
            <a:off x="6126480" y="2057400"/>
            <a:ext cx="2560320"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mj-lt" pitchFamily="34" charset="0"/>
                <a:ea typeface="+mj-lt" pitchFamily="34" charset="-122"/>
                <a:cs typeface="+mj-lt" pitchFamily="34" charset="-120"/>
              </a:rPr>
              <a:t>2</a:t>
            </a:r>
            <a:endParaRPr lang="en-US" sz="4400" dirty="0"/>
          </a:p>
        </p:txBody>
      </p:sp>
      <p:sp>
        <p:nvSpPr>
          <p:cNvPr id="12" name="Model label 3"/>
          <p:cNvSpPr txBox="1"/>
          <p:nvPr/>
        </p:nvSpPr>
        <p:spPr>
          <a:xfrm>
            <a:off x="6355080" y="3017520"/>
            <a:ext cx="2103120" cy="822960"/>
          </a:xfrm>
          <a:prstGeom prst="rect">
            <a:avLst/>
          </a:prstGeom>
          <a:noFill/>
          <a:ln/>
        </p:spPr>
        <p:txBody>
          <a:bodyPr wrap="square" lIns="0" tIns="0" rIns="0" bIns="0" rtlCol="0" anchor="t"/>
          <a:lstStyle/>
          <a:p>
            <a:pPr algn="ctr" indent="0" marL="0">
              <a:buNone/>
            </a:pPr>
            <a:r>
              <a:rPr lang="en-US" sz="1400" dirty="0">
                <a:solidFill>
                  <a:schemeClr val="tx1"/>
                </a:solidFill>
              </a:rPr>
              <a:t>paying users cover our running costs</a:t>
            </a:r>
            <a:endParaRPr lang="en-US" sz="1400" dirty="0"/>
          </a:p>
        </p:txBody>
      </p:sp>
      <p:sp>
        <p:nvSpPr>
          <p:cNvPr id="13" name="Model footnote"/>
          <p:cNvSpPr txBox="1"/>
          <p:nvPr/>
        </p:nvSpPr>
        <p:spPr>
          <a:xfrm>
            <a:off x="457200" y="4160520"/>
            <a:ext cx="7680960" cy="457200"/>
          </a:xfrm>
          <a:prstGeom prst="rect">
            <a:avLst/>
          </a:prstGeom>
          <a:noFill/>
          <a:ln/>
        </p:spPr>
        <p:txBody>
          <a:bodyPr wrap="square" lIns="0" tIns="0" rIns="0" bIns="0" rtlCol="0" anchor="t"/>
          <a:lstStyle/>
          <a:p>
            <a:pPr indent="0" marL="0">
              <a:buNone/>
            </a:pPr>
            <a:r>
              <a:rPr lang="en-US" sz="1200" i="1" dirty="0">
                <a:solidFill>
                  <a:schemeClr val="accent4"/>
                </a:solidFill>
              </a:rPr>
              <a:t>Each comparison earns $1.45 and costs about $0.40 in AI fees. Planning assumptions to test with real founders.</a:t>
            </a:r>
            <a:endParaRPr lang="en-US" sz="12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Starting market: 4,511 GenAI companies</a:t>
            </a:r>
            <a:endParaRPr lang="en-US" sz="3000" dirty="0"/>
          </a:p>
        </p:txBody>
      </p:sp>
      <p:sp>
        <p:nvSpPr>
          <p:cNvPr id="3" name="Market card 1"/>
          <p:cNvSpPr/>
          <p:nvPr/>
        </p:nvSpPr>
        <p:spPr>
          <a:xfrm>
            <a:off x="457200" y="1280160"/>
            <a:ext cx="2560320" cy="2194560"/>
          </a:xfrm>
          <a:prstGeom prst="roundRect">
            <a:avLst>
              <a:gd name="adj" fmla="val 4167"/>
            </a:avLst>
          </a:prstGeom>
          <a:solidFill>
            <a:schemeClr val="bg2"/>
          </a:solidFill>
          <a:ln/>
        </p:spPr>
      </p:sp>
      <p:sp>
        <p:nvSpPr>
          <p:cNvPr id="4" name="Market figure 1"/>
          <p:cNvSpPr txBox="1"/>
          <p:nvPr/>
        </p:nvSpPr>
        <p:spPr>
          <a:xfrm>
            <a:off x="457200" y="1417320"/>
            <a:ext cx="2560320"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mj-lt" pitchFamily="34" charset="0"/>
                <a:ea typeface="+mj-lt" pitchFamily="34" charset="-122"/>
                <a:cs typeface="+mj-lt" pitchFamily="34" charset="-120"/>
              </a:rPr>
              <a:t>78%</a:t>
            </a:r>
            <a:endParaRPr lang="en-US" sz="4400" dirty="0"/>
          </a:p>
        </p:txBody>
      </p:sp>
      <p:sp>
        <p:nvSpPr>
          <p:cNvPr id="5" name="Market label 1"/>
          <p:cNvSpPr txBox="1"/>
          <p:nvPr/>
        </p:nvSpPr>
        <p:spPr>
          <a:xfrm>
            <a:off x="685800" y="2423160"/>
            <a:ext cx="2103120" cy="914400"/>
          </a:xfrm>
          <a:prstGeom prst="rect">
            <a:avLst/>
          </a:prstGeom>
          <a:noFill/>
          <a:ln/>
        </p:spPr>
        <p:txBody>
          <a:bodyPr wrap="square" lIns="0" tIns="0" rIns="0" bIns="0" rtlCol="0" anchor="t"/>
          <a:lstStyle/>
          <a:p>
            <a:pPr algn="ctr" indent="0" marL="0">
              <a:buNone/>
            </a:pPr>
            <a:r>
              <a:rPr lang="en-US" sz="1400" dirty="0">
                <a:solidFill>
                  <a:schemeClr val="tx1"/>
                </a:solidFill>
              </a:rPr>
              <a:t>of organizations used AI in 2024</a:t>
            </a:r>
            <a:endParaRPr lang="en-US" sz="1400" dirty="0"/>
          </a:p>
        </p:txBody>
      </p:sp>
      <p:sp>
        <p:nvSpPr>
          <p:cNvPr id="6" name="Market card 2"/>
          <p:cNvSpPr/>
          <p:nvPr/>
        </p:nvSpPr>
        <p:spPr>
          <a:xfrm>
            <a:off x="3291840" y="1280160"/>
            <a:ext cx="2560320" cy="2194560"/>
          </a:xfrm>
          <a:prstGeom prst="roundRect">
            <a:avLst>
              <a:gd name="adj" fmla="val 4167"/>
            </a:avLst>
          </a:prstGeom>
          <a:solidFill>
            <a:schemeClr val="accent1"/>
          </a:solidFill>
          <a:ln/>
        </p:spPr>
      </p:sp>
      <p:sp>
        <p:nvSpPr>
          <p:cNvPr id="7" name="Market figure 2"/>
          <p:cNvSpPr txBox="1"/>
          <p:nvPr/>
        </p:nvSpPr>
        <p:spPr>
          <a:xfrm>
            <a:off x="3291840" y="1417320"/>
            <a:ext cx="2560320" cy="914400"/>
          </a:xfrm>
          <a:prstGeom prst="rect">
            <a:avLst/>
          </a:prstGeom>
          <a:noFill/>
          <a:ln/>
        </p:spPr>
        <p:txBody>
          <a:bodyPr wrap="square" lIns="0" tIns="0" rIns="0" bIns="0" rtlCol="0" anchor="ctr"/>
          <a:lstStyle/>
          <a:p>
            <a:pPr algn="ctr" indent="0" marL="0">
              <a:buNone/>
            </a:pPr>
            <a:r>
              <a:rPr lang="en-US" sz="4400" b="1" dirty="0">
                <a:solidFill>
                  <a:schemeClr val="bg1"/>
                </a:solidFill>
                <a:latin typeface="+mj-lt" pitchFamily="34" charset="0"/>
                <a:ea typeface="+mj-lt" pitchFamily="34" charset="-122"/>
                <a:cs typeface="+mj-lt" pitchFamily="34" charset="-120"/>
              </a:rPr>
              <a:t>4,511</a:t>
            </a:r>
            <a:endParaRPr lang="en-US" sz="4400" dirty="0"/>
          </a:p>
        </p:txBody>
      </p:sp>
      <p:sp>
        <p:nvSpPr>
          <p:cNvPr id="8" name="Market label 2"/>
          <p:cNvSpPr txBox="1"/>
          <p:nvPr/>
        </p:nvSpPr>
        <p:spPr>
          <a:xfrm>
            <a:off x="3520440" y="2423160"/>
            <a:ext cx="2103120" cy="914400"/>
          </a:xfrm>
          <a:prstGeom prst="rect">
            <a:avLst/>
          </a:prstGeom>
          <a:noFill/>
          <a:ln/>
        </p:spPr>
        <p:txBody>
          <a:bodyPr wrap="square" lIns="0" tIns="0" rIns="0" bIns="0" rtlCol="0" anchor="t"/>
          <a:lstStyle/>
          <a:p>
            <a:pPr algn="ctr" indent="0" marL="0">
              <a:buNone/>
            </a:pPr>
            <a:r>
              <a:rPr lang="en-US" sz="1400" dirty="0">
                <a:solidFill>
                  <a:schemeClr val="bg1"/>
                </a:solidFill>
              </a:rPr>
              <a:t>generative AI companies worldwide</a:t>
            </a:r>
            <a:endParaRPr lang="en-US" sz="1400" dirty="0"/>
          </a:p>
        </p:txBody>
      </p:sp>
      <p:sp>
        <p:nvSpPr>
          <p:cNvPr id="9" name="Market card 3"/>
          <p:cNvSpPr/>
          <p:nvPr/>
        </p:nvSpPr>
        <p:spPr>
          <a:xfrm>
            <a:off x="6126480" y="1280160"/>
            <a:ext cx="2560320" cy="2194560"/>
          </a:xfrm>
          <a:prstGeom prst="roundRect">
            <a:avLst>
              <a:gd name="adj" fmla="val 4167"/>
            </a:avLst>
          </a:prstGeom>
          <a:solidFill>
            <a:schemeClr val="bg2"/>
          </a:solidFill>
          <a:ln/>
        </p:spPr>
      </p:sp>
      <p:sp>
        <p:nvSpPr>
          <p:cNvPr id="10" name="Market figure 3"/>
          <p:cNvSpPr txBox="1"/>
          <p:nvPr/>
        </p:nvSpPr>
        <p:spPr>
          <a:xfrm>
            <a:off x="6126480" y="1417320"/>
            <a:ext cx="2560320"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mj-lt" pitchFamily="34" charset="0"/>
                <a:ea typeface="+mj-lt" pitchFamily="34" charset="-122"/>
                <a:cs typeface="+mj-lt" pitchFamily="34" charset="-120"/>
              </a:rPr>
              <a:t>$1.6M</a:t>
            </a:r>
            <a:endParaRPr lang="en-US" sz="4400" dirty="0"/>
          </a:p>
        </p:txBody>
      </p:sp>
      <p:sp>
        <p:nvSpPr>
          <p:cNvPr id="11" name="Market label 3"/>
          <p:cNvSpPr txBox="1"/>
          <p:nvPr/>
        </p:nvSpPr>
        <p:spPr>
          <a:xfrm>
            <a:off x="6355080" y="2423160"/>
            <a:ext cx="2103120" cy="914400"/>
          </a:xfrm>
          <a:prstGeom prst="rect">
            <a:avLst/>
          </a:prstGeom>
          <a:noFill/>
          <a:ln/>
        </p:spPr>
        <p:txBody>
          <a:bodyPr wrap="square" lIns="0" tIns="0" rIns="0" bIns="0" rtlCol="0" anchor="t"/>
          <a:lstStyle/>
          <a:p>
            <a:pPr algn="ctr" indent="0" marL="0">
              <a:buNone/>
            </a:pPr>
            <a:r>
              <a:rPr lang="en-US" sz="1400" dirty="0">
                <a:solidFill>
                  <a:schemeClr val="tx1"/>
                </a:solidFill>
              </a:rPr>
              <a:t>per year if all 4,511 paid $29 per month</a:t>
            </a:r>
            <a:endParaRPr lang="en-US" sz="1400" dirty="0"/>
          </a:p>
        </p:txBody>
      </p:sp>
      <p:sp>
        <p:nvSpPr>
          <p:cNvPr id="12" name="Market takeaway"/>
          <p:cNvSpPr txBox="1"/>
          <p:nvPr/>
        </p:nvSpPr>
        <p:spPr>
          <a:xfrm>
            <a:off x="457200" y="3657600"/>
            <a:ext cx="8229600" cy="548640"/>
          </a:xfrm>
          <a:prstGeom prst="rect">
            <a:avLst/>
          </a:prstGeom>
          <a:noFill/>
          <a:ln/>
        </p:spPr>
        <p:txBody>
          <a:bodyPr wrap="square" lIns="0" tIns="0" rIns="0" bIns="0" rtlCol="0" anchor="t"/>
          <a:lstStyle/>
          <a:p>
            <a:pPr indent="0" marL="0">
              <a:buNone/>
            </a:pPr>
            <a:r>
              <a:rPr lang="en-US" sz="1600" b="1" dirty="0">
                <a:solidFill>
                  <a:schemeClr val="tx1"/>
                </a:solidFill>
              </a:rPr>
              <a:t>Our Month 12 target of 100 paying users is about 2% of the 4,511 companies. Larger plans and more industries come after.</a:t>
            </a:r>
            <a:endParaRPr lang="en-US" sz="1600" dirty="0"/>
          </a:p>
        </p:txBody>
      </p:sp>
      <p:sp>
        <p:nvSpPr>
          <p:cNvPr id="13" name="Market sources"/>
          <p:cNvSpPr txBox="1"/>
          <p:nvPr/>
        </p:nvSpPr>
        <p:spPr>
          <a:xfrm>
            <a:off x="457200" y="4297680"/>
            <a:ext cx="7680960" cy="320040"/>
          </a:xfrm>
          <a:prstGeom prst="rect">
            <a:avLst/>
          </a:prstGeom>
          <a:noFill/>
          <a:ln/>
        </p:spPr>
        <p:txBody>
          <a:bodyPr wrap="square" lIns="0" tIns="0" rIns="0" bIns="0" rtlCol="0" anchor="t"/>
          <a:lstStyle/>
          <a:p>
            <a:pPr indent="0" marL="0">
              <a:buNone/>
            </a:pPr>
            <a:r>
              <a:rPr lang="en-US" sz="1000" dirty="0">
                <a:solidFill>
                  <a:schemeClr val="accent4"/>
                </a:solidFill>
              </a:rPr>
              <a:t>Sources: Stanford AI Index 2025 (via StartUs Insights); Tracxn, Generative AI companies, updated 2 Oct 2026. Revenue = companies x $29 x 12 months.</a:t>
            </a:r>
            <a:endParaRPr lang="en-US" sz="10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A working MVP in 5 sprints, about 10 weeks</a:t>
            </a:r>
            <a:endParaRPr lang="en-US" sz="3000" dirty="0"/>
          </a:p>
        </p:txBody>
      </p:sp>
      <p:sp>
        <p:nvSpPr>
          <p:cNvPr id="3" name="Timeline line"/>
          <p:cNvSpPr/>
          <p:nvPr/>
        </p:nvSpPr>
        <p:spPr>
          <a:xfrm>
            <a:off x="1234440" y="1508760"/>
            <a:ext cx="6675120" cy="0"/>
          </a:xfrm>
          <a:prstGeom prst="line">
            <a:avLst/>
          </a:prstGeom>
          <a:noFill/>
          <a:ln w="38100">
            <a:solidFill>
              <a:schemeClr val="accent4"/>
            </a:solidFill>
            <a:prstDash val="solid"/>
          </a:ln>
        </p:spPr>
      </p:sp>
      <p:sp>
        <p:nvSpPr>
          <p:cNvPr id="4" name="Timeline node 1"/>
          <p:cNvSpPr/>
          <p:nvPr/>
        </p:nvSpPr>
        <p:spPr>
          <a:xfrm>
            <a:off x="1051560" y="1280160"/>
            <a:ext cx="457200" cy="457200"/>
          </a:xfrm>
          <a:prstGeom prst="ellipse">
            <a:avLst/>
          </a:prstGeom>
          <a:solidFill>
            <a:schemeClr val="accent1"/>
          </a:solidFill>
          <a:ln/>
        </p:spPr>
      </p:sp>
      <p:sp>
        <p:nvSpPr>
          <p:cNvPr id="5" name="Timeline number 1"/>
          <p:cNvSpPr txBox="1"/>
          <p:nvPr/>
        </p:nvSpPr>
        <p:spPr>
          <a:xfrm>
            <a:off x="1051560" y="1280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Sprint card 1"/>
          <p:cNvSpPr/>
          <p:nvPr/>
        </p:nvSpPr>
        <p:spPr>
          <a:xfrm>
            <a:off x="457200" y="1965960"/>
            <a:ext cx="1554480" cy="2377440"/>
          </a:xfrm>
          <a:prstGeom prst="roundRect">
            <a:avLst>
              <a:gd name="adj" fmla="val 5882"/>
            </a:avLst>
          </a:prstGeom>
          <a:solidFill>
            <a:schemeClr val="bg2"/>
          </a:solidFill>
          <a:ln/>
        </p:spPr>
      </p:sp>
      <p:sp>
        <p:nvSpPr>
          <p:cNvPr id="7" name="Sprint name 1"/>
          <p:cNvSpPr txBox="1"/>
          <p:nvPr/>
        </p:nvSpPr>
        <p:spPr>
          <a:xfrm>
            <a:off x="594360" y="2103120"/>
            <a:ext cx="1280160" cy="274320"/>
          </a:xfrm>
          <a:prstGeom prst="rect">
            <a:avLst/>
          </a:prstGeom>
          <a:noFill/>
          <a:ln/>
        </p:spPr>
        <p:txBody>
          <a:bodyPr wrap="square" lIns="0" tIns="0" rIns="0" bIns="0" rtlCol="0" anchor="t"/>
          <a:lstStyle/>
          <a:p>
            <a:pPr indent="0" marL="0">
              <a:buNone/>
            </a:pPr>
            <a:r>
              <a:rPr lang="en-US" sz="1600" b="1" dirty="0">
                <a:solidFill>
                  <a:schemeClr val="tx1"/>
                </a:solidFill>
              </a:rPr>
              <a:t>Sprint 1</a:t>
            </a:r>
            <a:endParaRPr lang="en-US" sz="1600" dirty="0"/>
          </a:p>
        </p:txBody>
      </p:sp>
      <p:sp>
        <p:nvSpPr>
          <p:cNvPr id="8" name="Sprint epic 1"/>
          <p:cNvSpPr txBox="1"/>
          <p:nvPr/>
        </p:nvSpPr>
        <p:spPr>
          <a:xfrm>
            <a:off x="594360" y="2468880"/>
            <a:ext cx="1280160" cy="640080"/>
          </a:xfrm>
          <a:prstGeom prst="rect">
            <a:avLst/>
          </a:prstGeom>
          <a:noFill/>
          <a:ln/>
        </p:spPr>
        <p:txBody>
          <a:bodyPr wrap="square" lIns="0" tIns="0" rIns="0" bIns="0" rtlCol="0" anchor="t"/>
          <a:lstStyle/>
          <a:p>
            <a:pPr indent="0" marL="0">
              <a:buNone/>
            </a:pPr>
            <a:r>
              <a:rPr lang="en-US" sz="1400" b="1" dirty="0">
                <a:solidFill>
                  <a:schemeClr val="accent1"/>
                </a:solidFill>
              </a:rPr>
              <a:t>Setup and accounts</a:t>
            </a:r>
            <a:endParaRPr lang="en-US" sz="1400" dirty="0"/>
          </a:p>
        </p:txBody>
      </p:sp>
      <p:sp>
        <p:nvSpPr>
          <p:cNvPr id="9" name="Sprint outcome 1"/>
          <p:cNvSpPr txBox="1"/>
          <p:nvPr/>
        </p:nvSpPr>
        <p:spPr>
          <a:xfrm>
            <a:off x="594360" y="3154680"/>
            <a:ext cx="1280160" cy="1097280"/>
          </a:xfrm>
          <a:prstGeom prst="rect">
            <a:avLst/>
          </a:prstGeom>
          <a:noFill/>
          <a:ln/>
        </p:spPr>
        <p:txBody>
          <a:bodyPr wrap="square" lIns="0" tIns="0" rIns="0" bIns="0" rtlCol="0" anchor="t"/>
          <a:lstStyle/>
          <a:p>
            <a:pPr indent="0" marL="0">
              <a:buNone/>
            </a:pPr>
            <a:r>
              <a:rPr lang="en-US" sz="1400" dirty="0">
                <a:solidFill>
                  <a:schemeClr val="accent4"/>
                </a:solidFill>
              </a:rPr>
              <a:t>Sign-up and login work</a:t>
            </a:r>
            <a:endParaRPr lang="en-US" sz="1400" dirty="0"/>
          </a:p>
        </p:txBody>
      </p:sp>
      <p:sp>
        <p:nvSpPr>
          <p:cNvPr id="10" name="Timeline node 2"/>
          <p:cNvSpPr/>
          <p:nvPr/>
        </p:nvSpPr>
        <p:spPr>
          <a:xfrm>
            <a:off x="2715768" y="1280160"/>
            <a:ext cx="457200" cy="457200"/>
          </a:xfrm>
          <a:prstGeom prst="ellipse">
            <a:avLst/>
          </a:prstGeom>
          <a:solidFill>
            <a:schemeClr val="accent1"/>
          </a:solidFill>
          <a:ln/>
        </p:spPr>
      </p:sp>
      <p:sp>
        <p:nvSpPr>
          <p:cNvPr id="11" name="Timeline number 2"/>
          <p:cNvSpPr txBox="1"/>
          <p:nvPr/>
        </p:nvSpPr>
        <p:spPr>
          <a:xfrm>
            <a:off x="2715768" y="1280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Sprint card 2"/>
          <p:cNvSpPr/>
          <p:nvPr/>
        </p:nvSpPr>
        <p:spPr>
          <a:xfrm>
            <a:off x="2121408" y="1965960"/>
            <a:ext cx="1554480" cy="2377440"/>
          </a:xfrm>
          <a:prstGeom prst="roundRect">
            <a:avLst>
              <a:gd name="adj" fmla="val 5882"/>
            </a:avLst>
          </a:prstGeom>
          <a:solidFill>
            <a:schemeClr val="bg2"/>
          </a:solidFill>
          <a:ln/>
        </p:spPr>
      </p:sp>
      <p:sp>
        <p:nvSpPr>
          <p:cNvPr id="13" name="Sprint name 2"/>
          <p:cNvSpPr txBox="1"/>
          <p:nvPr/>
        </p:nvSpPr>
        <p:spPr>
          <a:xfrm>
            <a:off x="2258568" y="2103120"/>
            <a:ext cx="1280160" cy="274320"/>
          </a:xfrm>
          <a:prstGeom prst="rect">
            <a:avLst/>
          </a:prstGeom>
          <a:noFill/>
          <a:ln/>
        </p:spPr>
        <p:txBody>
          <a:bodyPr wrap="square" lIns="0" tIns="0" rIns="0" bIns="0" rtlCol="0" anchor="t"/>
          <a:lstStyle/>
          <a:p>
            <a:pPr indent="0" marL="0">
              <a:buNone/>
            </a:pPr>
            <a:r>
              <a:rPr lang="en-US" sz="1600" b="1" dirty="0">
                <a:solidFill>
                  <a:schemeClr val="tx1"/>
                </a:solidFill>
              </a:rPr>
              <a:t>Sprint 2</a:t>
            </a:r>
            <a:endParaRPr lang="en-US" sz="1600" dirty="0"/>
          </a:p>
        </p:txBody>
      </p:sp>
      <p:sp>
        <p:nvSpPr>
          <p:cNvPr id="14" name="Sprint epic 2"/>
          <p:cNvSpPr txBox="1"/>
          <p:nvPr/>
        </p:nvSpPr>
        <p:spPr>
          <a:xfrm>
            <a:off x="2258568" y="2468880"/>
            <a:ext cx="1280160" cy="640080"/>
          </a:xfrm>
          <a:prstGeom prst="rect">
            <a:avLst/>
          </a:prstGeom>
          <a:noFill/>
          <a:ln/>
        </p:spPr>
        <p:txBody>
          <a:bodyPr wrap="square" lIns="0" tIns="0" rIns="0" bIns="0" rtlCol="0" anchor="t"/>
          <a:lstStyle/>
          <a:p>
            <a:pPr indent="0" marL="0">
              <a:buNone/>
            </a:pPr>
            <a:r>
              <a:rPr lang="en-US" sz="1400" b="1" dirty="0">
                <a:solidFill>
                  <a:schemeClr val="accent1"/>
                </a:solidFill>
              </a:rPr>
              <a:t>Business intake</a:t>
            </a:r>
            <a:endParaRPr lang="en-US" sz="1400" dirty="0"/>
          </a:p>
        </p:txBody>
      </p:sp>
      <p:sp>
        <p:nvSpPr>
          <p:cNvPr id="15" name="Sprint outcome 2"/>
          <p:cNvSpPr txBox="1"/>
          <p:nvPr/>
        </p:nvSpPr>
        <p:spPr>
          <a:xfrm>
            <a:off x="2258568" y="3154680"/>
            <a:ext cx="1280160" cy="1097280"/>
          </a:xfrm>
          <a:prstGeom prst="rect">
            <a:avLst/>
          </a:prstGeom>
          <a:noFill/>
          <a:ln/>
        </p:spPr>
        <p:txBody>
          <a:bodyPr wrap="square" lIns="0" tIns="0" rIns="0" bIns="0" rtlCol="0" anchor="t"/>
          <a:lstStyle/>
          <a:p>
            <a:pPr indent="0" marL="0">
              <a:buNone/>
            </a:pPr>
            <a:r>
              <a:rPr lang="en-US" sz="1400" dirty="0">
                <a:solidFill>
                  <a:schemeClr val="accent4"/>
                </a:solidFill>
              </a:rPr>
              <a:t>Describe business, upload documents</a:t>
            </a:r>
            <a:endParaRPr lang="en-US" sz="1400" dirty="0"/>
          </a:p>
        </p:txBody>
      </p:sp>
      <p:sp>
        <p:nvSpPr>
          <p:cNvPr id="16" name="Timeline node 3"/>
          <p:cNvSpPr/>
          <p:nvPr/>
        </p:nvSpPr>
        <p:spPr>
          <a:xfrm>
            <a:off x="4379976" y="1280160"/>
            <a:ext cx="457200" cy="457200"/>
          </a:xfrm>
          <a:prstGeom prst="ellipse">
            <a:avLst/>
          </a:prstGeom>
          <a:solidFill>
            <a:schemeClr val="accent1"/>
          </a:solidFill>
          <a:ln/>
        </p:spPr>
      </p:sp>
      <p:sp>
        <p:nvSpPr>
          <p:cNvPr id="17" name="Timeline number 3"/>
          <p:cNvSpPr txBox="1"/>
          <p:nvPr/>
        </p:nvSpPr>
        <p:spPr>
          <a:xfrm>
            <a:off x="4379976" y="1280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Sprint card 3"/>
          <p:cNvSpPr/>
          <p:nvPr/>
        </p:nvSpPr>
        <p:spPr>
          <a:xfrm>
            <a:off x="3785616" y="1965960"/>
            <a:ext cx="1554480" cy="2377440"/>
          </a:xfrm>
          <a:prstGeom prst="roundRect">
            <a:avLst>
              <a:gd name="adj" fmla="val 5882"/>
            </a:avLst>
          </a:prstGeom>
          <a:solidFill>
            <a:schemeClr val="bg2"/>
          </a:solidFill>
          <a:ln/>
        </p:spPr>
      </p:sp>
      <p:sp>
        <p:nvSpPr>
          <p:cNvPr id="19" name="Sprint name 3"/>
          <p:cNvSpPr txBox="1"/>
          <p:nvPr/>
        </p:nvSpPr>
        <p:spPr>
          <a:xfrm>
            <a:off x="3922776" y="2103120"/>
            <a:ext cx="1280160" cy="274320"/>
          </a:xfrm>
          <a:prstGeom prst="rect">
            <a:avLst/>
          </a:prstGeom>
          <a:noFill/>
          <a:ln/>
        </p:spPr>
        <p:txBody>
          <a:bodyPr wrap="square" lIns="0" tIns="0" rIns="0" bIns="0" rtlCol="0" anchor="t"/>
          <a:lstStyle/>
          <a:p>
            <a:pPr indent="0" marL="0">
              <a:buNone/>
            </a:pPr>
            <a:r>
              <a:rPr lang="en-US" sz="1600" b="1" dirty="0">
                <a:solidFill>
                  <a:schemeClr val="tx1"/>
                </a:solidFill>
              </a:rPr>
              <a:t>Sprint 3</a:t>
            </a:r>
            <a:endParaRPr lang="en-US" sz="1600" dirty="0"/>
          </a:p>
        </p:txBody>
      </p:sp>
      <p:sp>
        <p:nvSpPr>
          <p:cNvPr id="20" name="Sprint epic 3"/>
          <p:cNvSpPr txBox="1"/>
          <p:nvPr/>
        </p:nvSpPr>
        <p:spPr>
          <a:xfrm>
            <a:off x="3922776" y="2468880"/>
            <a:ext cx="1280160" cy="640080"/>
          </a:xfrm>
          <a:prstGeom prst="rect">
            <a:avLst/>
          </a:prstGeom>
          <a:noFill/>
          <a:ln/>
        </p:spPr>
        <p:txBody>
          <a:bodyPr wrap="square" lIns="0" tIns="0" rIns="0" bIns="0" rtlCol="0" anchor="t"/>
          <a:lstStyle/>
          <a:p>
            <a:pPr indent="0" marL="0">
              <a:buNone/>
            </a:pPr>
            <a:r>
              <a:rPr lang="en-US" sz="1400" b="1" dirty="0">
                <a:solidFill>
                  <a:schemeClr val="accent1"/>
                </a:solidFill>
              </a:rPr>
              <a:t>Model catalog</a:t>
            </a:r>
            <a:endParaRPr lang="en-US" sz="1400" dirty="0"/>
          </a:p>
        </p:txBody>
      </p:sp>
      <p:sp>
        <p:nvSpPr>
          <p:cNvPr id="21" name="Sprint outcome 3"/>
          <p:cNvSpPr txBox="1"/>
          <p:nvPr/>
        </p:nvSpPr>
        <p:spPr>
          <a:xfrm>
            <a:off x="3922776" y="3154680"/>
            <a:ext cx="1280160" cy="1097280"/>
          </a:xfrm>
          <a:prstGeom prst="rect">
            <a:avLst/>
          </a:prstGeom>
          <a:noFill/>
          <a:ln/>
        </p:spPr>
        <p:txBody>
          <a:bodyPr wrap="square" lIns="0" tIns="0" rIns="0" bIns="0" rtlCol="0" anchor="t"/>
          <a:lstStyle/>
          <a:p>
            <a:pPr indent="0" marL="0">
              <a:buNone/>
            </a:pPr>
            <a:r>
              <a:rPr lang="en-US" sz="1400" dirty="0">
                <a:solidFill>
                  <a:schemeClr val="accent4"/>
                </a:solidFill>
              </a:rPr>
              <a:t>Models grouped by category</a:t>
            </a:r>
            <a:endParaRPr lang="en-US" sz="1400" dirty="0"/>
          </a:p>
        </p:txBody>
      </p:sp>
      <p:sp>
        <p:nvSpPr>
          <p:cNvPr id="22" name="Timeline node 4"/>
          <p:cNvSpPr/>
          <p:nvPr/>
        </p:nvSpPr>
        <p:spPr>
          <a:xfrm>
            <a:off x="6044184" y="1280160"/>
            <a:ext cx="457200" cy="457200"/>
          </a:xfrm>
          <a:prstGeom prst="ellipse">
            <a:avLst/>
          </a:prstGeom>
          <a:solidFill>
            <a:schemeClr val="accent1"/>
          </a:solidFill>
          <a:ln/>
        </p:spPr>
      </p:sp>
      <p:sp>
        <p:nvSpPr>
          <p:cNvPr id="23" name="Timeline number 4"/>
          <p:cNvSpPr txBox="1"/>
          <p:nvPr/>
        </p:nvSpPr>
        <p:spPr>
          <a:xfrm>
            <a:off x="6044184" y="1280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4" name="Sprint card 4"/>
          <p:cNvSpPr/>
          <p:nvPr/>
        </p:nvSpPr>
        <p:spPr>
          <a:xfrm>
            <a:off x="5449824" y="1965960"/>
            <a:ext cx="1554480" cy="2377440"/>
          </a:xfrm>
          <a:prstGeom prst="roundRect">
            <a:avLst>
              <a:gd name="adj" fmla="val 5882"/>
            </a:avLst>
          </a:prstGeom>
          <a:solidFill>
            <a:schemeClr val="bg2"/>
          </a:solidFill>
          <a:ln/>
        </p:spPr>
      </p:sp>
      <p:sp>
        <p:nvSpPr>
          <p:cNvPr id="25" name="Sprint name 4"/>
          <p:cNvSpPr txBox="1"/>
          <p:nvPr/>
        </p:nvSpPr>
        <p:spPr>
          <a:xfrm>
            <a:off x="5586984" y="2103120"/>
            <a:ext cx="1280160" cy="274320"/>
          </a:xfrm>
          <a:prstGeom prst="rect">
            <a:avLst/>
          </a:prstGeom>
          <a:noFill/>
          <a:ln/>
        </p:spPr>
        <p:txBody>
          <a:bodyPr wrap="square" lIns="0" tIns="0" rIns="0" bIns="0" rtlCol="0" anchor="t"/>
          <a:lstStyle/>
          <a:p>
            <a:pPr indent="0" marL="0">
              <a:buNone/>
            </a:pPr>
            <a:r>
              <a:rPr lang="en-US" sz="1600" b="1" dirty="0">
                <a:solidFill>
                  <a:schemeClr val="tx1"/>
                </a:solidFill>
              </a:rPr>
              <a:t>Sprint 4</a:t>
            </a:r>
            <a:endParaRPr lang="en-US" sz="1600" dirty="0"/>
          </a:p>
        </p:txBody>
      </p:sp>
      <p:sp>
        <p:nvSpPr>
          <p:cNvPr id="26" name="Sprint epic 4"/>
          <p:cNvSpPr txBox="1"/>
          <p:nvPr/>
        </p:nvSpPr>
        <p:spPr>
          <a:xfrm>
            <a:off x="5586984" y="2468880"/>
            <a:ext cx="1280160" cy="640080"/>
          </a:xfrm>
          <a:prstGeom prst="rect">
            <a:avLst/>
          </a:prstGeom>
          <a:noFill/>
          <a:ln/>
        </p:spPr>
        <p:txBody>
          <a:bodyPr wrap="square" lIns="0" tIns="0" rIns="0" bIns="0" rtlCol="0" anchor="t"/>
          <a:lstStyle/>
          <a:p>
            <a:pPr indent="0" marL="0">
              <a:buNone/>
            </a:pPr>
            <a:r>
              <a:rPr lang="en-US" sz="1400" b="1" dirty="0">
                <a:solidFill>
                  <a:schemeClr val="accent1"/>
                </a:solidFill>
              </a:rPr>
              <a:t>Matching</a:t>
            </a:r>
            <a:endParaRPr lang="en-US" sz="1400" dirty="0"/>
          </a:p>
        </p:txBody>
      </p:sp>
      <p:sp>
        <p:nvSpPr>
          <p:cNvPr id="27" name="Sprint outcome 4"/>
          <p:cNvSpPr txBox="1"/>
          <p:nvPr/>
        </p:nvSpPr>
        <p:spPr>
          <a:xfrm>
            <a:off x="5586984" y="3154680"/>
            <a:ext cx="1280160" cy="1097280"/>
          </a:xfrm>
          <a:prstGeom prst="rect">
            <a:avLst/>
          </a:prstGeom>
          <a:noFill/>
          <a:ln/>
        </p:spPr>
        <p:txBody>
          <a:bodyPr wrap="square" lIns="0" tIns="0" rIns="0" bIns="0" rtlCol="0" anchor="t"/>
          <a:lstStyle/>
          <a:p>
            <a:pPr indent="0" marL="0">
              <a:buNone/>
            </a:pPr>
            <a:r>
              <a:rPr lang="en-US" sz="1400" dirty="0">
                <a:solidFill>
                  <a:schemeClr val="accent4"/>
                </a:solidFill>
              </a:rPr>
              <a:t>Top 3 and one recommendation</a:t>
            </a:r>
            <a:endParaRPr lang="en-US" sz="1400" dirty="0"/>
          </a:p>
        </p:txBody>
      </p:sp>
      <p:sp>
        <p:nvSpPr>
          <p:cNvPr id="28" name="Timeline node 5"/>
          <p:cNvSpPr/>
          <p:nvPr/>
        </p:nvSpPr>
        <p:spPr>
          <a:xfrm>
            <a:off x="7708392" y="1280160"/>
            <a:ext cx="457200" cy="457200"/>
          </a:xfrm>
          <a:prstGeom prst="ellipse">
            <a:avLst/>
          </a:prstGeom>
          <a:solidFill>
            <a:schemeClr val="accent1"/>
          </a:solidFill>
          <a:ln/>
        </p:spPr>
      </p:sp>
      <p:sp>
        <p:nvSpPr>
          <p:cNvPr id="29" name="Timeline number 5"/>
          <p:cNvSpPr txBox="1"/>
          <p:nvPr/>
        </p:nvSpPr>
        <p:spPr>
          <a:xfrm>
            <a:off x="7708392" y="1280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0" name="Sprint card 5"/>
          <p:cNvSpPr/>
          <p:nvPr/>
        </p:nvSpPr>
        <p:spPr>
          <a:xfrm>
            <a:off x="7114032" y="1965960"/>
            <a:ext cx="1554480" cy="2377440"/>
          </a:xfrm>
          <a:prstGeom prst="roundRect">
            <a:avLst>
              <a:gd name="adj" fmla="val 5882"/>
            </a:avLst>
          </a:prstGeom>
          <a:solidFill>
            <a:schemeClr val="bg2"/>
          </a:solidFill>
          <a:ln/>
        </p:spPr>
      </p:sp>
      <p:sp>
        <p:nvSpPr>
          <p:cNvPr id="31" name="Sprint name 5"/>
          <p:cNvSpPr txBox="1"/>
          <p:nvPr/>
        </p:nvSpPr>
        <p:spPr>
          <a:xfrm>
            <a:off x="7251192" y="2103120"/>
            <a:ext cx="1280160" cy="274320"/>
          </a:xfrm>
          <a:prstGeom prst="rect">
            <a:avLst/>
          </a:prstGeom>
          <a:noFill/>
          <a:ln/>
        </p:spPr>
        <p:txBody>
          <a:bodyPr wrap="square" lIns="0" tIns="0" rIns="0" bIns="0" rtlCol="0" anchor="t"/>
          <a:lstStyle/>
          <a:p>
            <a:pPr indent="0" marL="0">
              <a:buNone/>
            </a:pPr>
            <a:r>
              <a:rPr lang="en-US" sz="1600" b="1" dirty="0">
                <a:solidFill>
                  <a:schemeClr val="tx1"/>
                </a:solidFill>
              </a:rPr>
              <a:t>Sprint 5</a:t>
            </a:r>
            <a:endParaRPr lang="en-US" sz="1600" dirty="0"/>
          </a:p>
        </p:txBody>
      </p:sp>
      <p:sp>
        <p:nvSpPr>
          <p:cNvPr id="32" name="Sprint epic 5"/>
          <p:cNvSpPr txBox="1"/>
          <p:nvPr/>
        </p:nvSpPr>
        <p:spPr>
          <a:xfrm>
            <a:off x="7251192" y="2468880"/>
            <a:ext cx="1280160" cy="640080"/>
          </a:xfrm>
          <a:prstGeom prst="rect">
            <a:avLst/>
          </a:prstGeom>
          <a:noFill/>
          <a:ln/>
        </p:spPr>
        <p:txBody>
          <a:bodyPr wrap="square" lIns="0" tIns="0" rIns="0" bIns="0" rtlCol="0" anchor="t"/>
          <a:lstStyle/>
          <a:p>
            <a:pPr indent="0" marL="0">
              <a:buNone/>
            </a:pPr>
            <a:r>
              <a:rPr lang="en-US" sz="1400" b="1" dirty="0">
                <a:solidFill>
                  <a:schemeClr val="accent1"/>
                </a:solidFill>
              </a:rPr>
              <a:t>Comparison screen</a:t>
            </a:r>
            <a:endParaRPr lang="en-US" sz="1400" dirty="0"/>
          </a:p>
        </p:txBody>
      </p:sp>
      <p:sp>
        <p:nvSpPr>
          <p:cNvPr id="33" name="Sprint outcome 5"/>
          <p:cNvSpPr txBox="1"/>
          <p:nvPr/>
        </p:nvSpPr>
        <p:spPr>
          <a:xfrm>
            <a:off x="7251192" y="3154680"/>
            <a:ext cx="1280160" cy="1097280"/>
          </a:xfrm>
          <a:prstGeom prst="rect">
            <a:avLst/>
          </a:prstGeom>
          <a:noFill/>
          <a:ln/>
        </p:spPr>
        <p:txBody>
          <a:bodyPr wrap="square" lIns="0" tIns="0" rIns="0" bIns="0" rtlCol="0" anchor="t"/>
          <a:lstStyle/>
          <a:p>
            <a:pPr indent="0" marL="0">
              <a:buNone/>
            </a:pPr>
            <a:r>
              <a:rPr lang="en-US" sz="1400" dirty="0">
                <a:solidFill>
                  <a:schemeClr val="accent4"/>
                </a:solidFill>
              </a:rPr>
              <a:t>Side-by-side view, report, demo</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The team</a:t>
            </a:r>
            <a:endParaRPr lang="en-US" sz="3000" dirty="0"/>
          </a:p>
        </p:txBody>
      </p:sp>
      <p:sp>
        <p:nvSpPr>
          <p:cNvPr id="3" name="Team card 1"/>
          <p:cNvSpPr/>
          <p:nvPr/>
        </p:nvSpPr>
        <p:spPr>
          <a:xfrm>
            <a:off x="457200" y="1280160"/>
            <a:ext cx="1554480" cy="2468880"/>
          </a:xfrm>
          <a:prstGeom prst="roundRect">
            <a:avLst>
              <a:gd name="adj" fmla="val 5882"/>
            </a:avLst>
          </a:prstGeom>
          <a:solidFill>
            <a:schemeClr val="bg2"/>
          </a:solidFill>
          <a:ln/>
        </p:spPr>
      </p:sp>
      <p:sp>
        <p:nvSpPr>
          <p:cNvPr id="4" name="Team icon circle 1"/>
          <p:cNvSpPr/>
          <p:nvPr/>
        </p:nvSpPr>
        <p:spPr>
          <a:xfrm>
            <a:off x="960120" y="1463040"/>
            <a:ext cx="548640" cy="548640"/>
          </a:xfrm>
          <a:prstGeom prst="ellipse">
            <a:avLst/>
          </a:prstGeom>
          <a:solidFill>
            <a:schemeClr val="accent1"/>
          </a:solidFill>
          <a:ln/>
        </p:spPr>
      </p:sp>
      <p:pic>
        <p:nvPicPr>
          <p:cNvPr id="5" name="Team icon 1" descr="Team member 1">    </p:cNvPr>
          <p:cNvPicPr>
            <a:picLocks noChangeAspect="1"/>
          </p:cNvPicPr>
          <p:nvPr/>
        </p:nvPicPr>
        <p:blipFill>
          <a:blip r:embed="rId1"/>
          <a:stretch>
            <a:fillRect/>
          </a:stretch>
        </p:blipFill>
        <p:spPr>
          <a:xfrm>
            <a:off x="1115568" y="1618488"/>
            <a:ext cx="237744" cy="237744"/>
          </a:xfrm>
          <a:prstGeom prst="rect">
            <a:avLst/>
          </a:prstGeom>
        </p:spPr>
      </p:pic>
      <p:sp>
        <p:nvSpPr>
          <p:cNvPr id="6" name="Team name 1"/>
          <p:cNvSpPr txBox="1"/>
          <p:nvPr/>
        </p:nvSpPr>
        <p:spPr>
          <a:xfrm>
            <a:off x="548640" y="2148840"/>
            <a:ext cx="1371600" cy="320040"/>
          </a:xfrm>
          <a:prstGeom prst="rect">
            <a:avLst/>
          </a:prstGeom>
          <a:noFill/>
          <a:ln/>
        </p:spPr>
        <p:txBody>
          <a:bodyPr wrap="square" lIns="0" tIns="0" rIns="0" bIns="0" rtlCol="0" anchor="t"/>
          <a:lstStyle/>
          <a:p>
            <a:pPr algn="ctr" indent="0" marL="0">
              <a:buNone/>
            </a:pPr>
            <a:r>
              <a:rPr lang="en-US" sz="1600" b="1" i="1" dirty="0">
                <a:solidFill>
                  <a:schemeClr val="accent6"/>
                </a:solidFill>
              </a:rPr>
              <a:t>[Name]</a:t>
            </a:r>
            <a:endParaRPr lang="en-US" sz="1600" dirty="0"/>
          </a:p>
        </p:txBody>
      </p:sp>
      <p:sp>
        <p:nvSpPr>
          <p:cNvPr id="7" name="Team role 1"/>
          <p:cNvSpPr txBox="1"/>
          <p:nvPr/>
        </p:nvSpPr>
        <p:spPr>
          <a:xfrm>
            <a:off x="548640" y="2560320"/>
            <a:ext cx="1371600" cy="1097280"/>
          </a:xfrm>
          <a:prstGeom prst="rect">
            <a:avLst/>
          </a:prstGeom>
          <a:noFill/>
          <a:ln/>
        </p:spPr>
        <p:txBody>
          <a:bodyPr wrap="square" lIns="0" tIns="0" rIns="0" bIns="0" rtlCol="0" anchor="t"/>
          <a:lstStyle/>
          <a:p>
            <a:pPr algn="ctr" indent="0" marL="0">
              <a:buNone/>
            </a:pPr>
            <a:r>
              <a:rPr lang="en-US" sz="1400" dirty="0">
                <a:solidFill>
                  <a:schemeClr val="tx1"/>
                </a:solidFill>
              </a:rPr>
              <a:t>Team Lead, Product Owner, Scrum Master</a:t>
            </a:r>
            <a:endParaRPr lang="en-US" sz="1400" dirty="0"/>
          </a:p>
        </p:txBody>
      </p:sp>
      <p:sp>
        <p:nvSpPr>
          <p:cNvPr id="8" name="Team card 2"/>
          <p:cNvSpPr/>
          <p:nvPr/>
        </p:nvSpPr>
        <p:spPr>
          <a:xfrm>
            <a:off x="2121408" y="1280160"/>
            <a:ext cx="1554480" cy="2468880"/>
          </a:xfrm>
          <a:prstGeom prst="roundRect">
            <a:avLst>
              <a:gd name="adj" fmla="val 5882"/>
            </a:avLst>
          </a:prstGeom>
          <a:solidFill>
            <a:schemeClr val="bg2"/>
          </a:solidFill>
          <a:ln/>
        </p:spPr>
      </p:sp>
      <p:sp>
        <p:nvSpPr>
          <p:cNvPr id="9" name="Team icon circle 2"/>
          <p:cNvSpPr/>
          <p:nvPr/>
        </p:nvSpPr>
        <p:spPr>
          <a:xfrm>
            <a:off x="2624328" y="1463040"/>
            <a:ext cx="548640" cy="548640"/>
          </a:xfrm>
          <a:prstGeom prst="ellipse">
            <a:avLst/>
          </a:prstGeom>
          <a:solidFill>
            <a:schemeClr val="accent1"/>
          </a:solidFill>
          <a:ln/>
        </p:spPr>
      </p:sp>
      <p:pic>
        <p:nvPicPr>
          <p:cNvPr id="10" name="Team icon 2" descr="Team member 2">    </p:cNvPr>
          <p:cNvPicPr>
            <a:picLocks noChangeAspect="1"/>
          </p:cNvPicPr>
          <p:nvPr/>
        </p:nvPicPr>
        <p:blipFill>
          <a:blip r:embed="rId2"/>
          <a:stretch>
            <a:fillRect/>
          </a:stretch>
        </p:blipFill>
        <p:spPr>
          <a:xfrm>
            <a:off x="2779776" y="1618488"/>
            <a:ext cx="237744" cy="237744"/>
          </a:xfrm>
          <a:prstGeom prst="rect">
            <a:avLst/>
          </a:prstGeom>
        </p:spPr>
      </p:pic>
      <p:sp>
        <p:nvSpPr>
          <p:cNvPr id="11" name="Team name 2"/>
          <p:cNvSpPr txBox="1"/>
          <p:nvPr/>
        </p:nvSpPr>
        <p:spPr>
          <a:xfrm>
            <a:off x="2212848" y="2148840"/>
            <a:ext cx="1371600" cy="320040"/>
          </a:xfrm>
          <a:prstGeom prst="rect">
            <a:avLst/>
          </a:prstGeom>
          <a:noFill/>
          <a:ln/>
        </p:spPr>
        <p:txBody>
          <a:bodyPr wrap="square" lIns="0" tIns="0" rIns="0" bIns="0" rtlCol="0" anchor="t"/>
          <a:lstStyle/>
          <a:p>
            <a:pPr algn="ctr" indent="0" marL="0">
              <a:buNone/>
            </a:pPr>
            <a:r>
              <a:rPr lang="en-US" sz="1600" b="1" i="1" dirty="0">
                <a:solidFill>
                  <a:schemeClr val="accent6"/>
                </a:solidFill>
              </a:rPr>
              <a:t>[Name]</a:t>
            </a:r>
            <a:endParaRPr lang="en-US" sz="1600" dirty="0"/>
          </a:p>
        </p:txBody>
      </p:sp>
      <p:sp>
        <p:nvSpPr>
          <p:cNvPr id="12" name="Team role 2"/>
          <p:cNvSpPr txBox="1"/>
          <p:nvPr/>
        </p:nvSpPr>
        <p:spPr>
          <a:xfrm>
            <a:off x="2212848" y="2560320"/>
            <a:ext cx="1371600" cy="1097280"/>
          </a:xfrm>
          <a:prstGeom prst="rect">
            <a:avLst/>
          </a:prstGeom>
          <a:noFill/>
          <a:ln/>
        </p:spPr>
        <p:txBody>
          <a:bodyPr wrap="square" lIns="0" tIns="0" rIns="0" bIns="0" rtlCol="0" anchor="t"/>
          <a:lstStyle/>
          <a:p>
            <a:pPr algn="ctr" indent="0" marL="0">
              <a:buNone/>
            </a:pPr>
            <a:r>
              <a:rPr lang="en-US" sz="1400" dirty="0">
                <a:solidFill>
                  <a:schemeClr val="tx1"/>
                </a:solidFill>
              </a:rPr>
              <a:t>Frontend and comparison screen</a:t>
            </a:r>
            <a:endParaRPr lang="en-US" sz="1400" dirty="0"/>
          </a:p>
        </p:txBody>
      </p:sp>
      <p:sp>
        <p:nvSpPr>
          <p:cNvPr id="13" name="Team card 3"/>
          <p:cNvSpPr/>
          <p:nvPr/>
        </p:nvSpPr>
        <p:spPr>
          <a:xfrm>
            <a:off x="3785616" y="1280160"/>
            <a:ext cx="1554480" cy="2468880"/>
          </a:xfrm>
          <a:prstGeom prst="roundRect">
            <a:avLst>
              <a:gd name="adj" fmla="val 5882"/>
            </a:avLst>
          </a:prstGeom>
          <a:solidFill>
            <a:schemeClr val="bg2"/>
          </a:solidFill>
          <a:ln/>
        </p:spPr>
      </p:sp>
      <p:sp>
        <p:nvSpPr>
          <p:cNvPr id="14" name="Team icon circle 3"/>
          <p:cNvSpPr/>
          <p:nvPr/>
        </p:nvSpPr>
        <p:spPr>
          <a:xfrm>
            <a:off x="4288536" y="1463040"/>
            <a:ext cx="548640" cy="548640"/>
          </a:xfrm>
          <a:prstGeom prst="ellipse">
            <a:avLst/>
          </a:prstGeom>
          <a:solidFill>
            <a:schemeClr val="accent1"/>
          </a:solidFill>
          <a:ln/>
        </p:spPr>
      </p:sp>
      <p:pic>
        <p:nvPicPr>
          <p:cNvPr id="15" name="Team icon 3" descr="Team member 3">    </p:cNvPr>
          <p:cNvPicPr>
            <a:picLocks noChangeAspect="1"/>
          </p:cNvPicPr>
          <p:nvPr/>
        </p:nvPicPr>
        <p:blipFill>
          <a:blip r:embed="rId3"/>
          <a:stretch>
            <a:fillRect/>
          </a:stretch>
        </p:blipFill>
        <p:spPr>
          <a:xfrm>
            <a:off x="4443984" y="1618488"/>
            <a:ext cx="237744" cy="237744"/>
          </a:xfrm>
          <a:prstGeom prst="rect">
            <a:avLst/>
          </a:prstGeom>
        </p:spPr>
      </p:pic>
      <p:sp>
        <p:nvSpPr>
          <p:cNvPr id="16" name="Team name 3"/>
          <p:cNvSpPr txBox="1"/>
          <p:nvPr/>
        </p:nvSpPr>
        <p:spPr>
          <a:xfrm>
            <a:off x="3877056" y="2148840"/>
            <a:ext cx="1371600" cy="320040"/>
          </a:xfrm>
          <a:prstGeom prst="rect">
            <a:avLst/>
          </a:prstGeom>
          <a:noFill/>
          <a:ln/>
        </p:spPr>
        <p:txBody>
          <a:bodyPr wrap="square" lIns="0" tIns="0" rIns="0" bIns="0" rtlCol="0" anchor="t"/>
          <a:lstStyle/>
          <a:p>
            <a:pPr algn="ctr" indent="0" marL="0">
              <a:buNone/>
            </a:pPr>
            <a:r>
              <a:rPr lang="en-US" sz="1600" b="1" i="1" dirty="0">
                <a:solidFill>
                  <a:schemeClr val="accent6"/>
                </a:solidFill>
              </a:rPr>
              <a:t>[Name]</a:t>
            </a:r>
            <a:endParaRPr lang="en-US" sz="1600" dirty="0"/>
          </a:p>
        </p:txBody>
      </p:sp>
      <p:sp>
        <p:nvSpPr>
          <p:cNvPr id="17" name="Team role 3"/>
          <p:cNvSpPr txBox="1"/>
          <p:nvPr/>
        </p:nvSpPr>
        <p:spPr>
          <a:xfrm>
            <a:off x="3877056" y="2560320"/>
            <a:ext cx="1371600" cy="1097280"/>
          </a:xfrm>
          <a:prstGeom prst="rect">
            <a:avLst/>
          </a:prstGeom>
          <a:noFill/>
          <a:ln/>
        </p:spPr>
        <p:txBody>
          <a:bodyPr wrap="square" lIns="0" tIns="0" rIns="0" bIns="0" rtlCol="0" anchor="t"/>
          <a:lstStyle/>
          <a:p>
            <a:pPr algn="ctr" indent="0" marL="0">
              <a:buNone/>
            </a:pPr>
            <a:r>
              <a:rPr lang="en-US" sz="1400" dirty="0">
                <a:solidFill>
                  <a:schemeClr val="tx1"/>
                </a:solidFill>
              </a:rPr>
              <a:t>Backend, accounts, storage</a:t>
            </a:r>
            <a:endParaRPr lang="en-US" sz="1400" dirty="0"/>
          </a:p>
        </p:txBody>
      </p:sp>
      <p:sp>
        <p:nvSpPr>
          <p:cNvPr id="18" name="Team card 4"/>
          <p:cNvSpPr/>
          <p:nvPr/>
        </p:nvSpPr>
        <p:spPr>
          <a:xfrm>
            <a:off x="5449824" y="1280160"/>
            <a:ext cx="1554480" cy="2468880"/>
          </a:xfrm>
          <a:prstGeom prst="roundRect">
            <a:avLst>
              <a:gd name="adj" fmla="val 5882"/>
            </a:avLst>
          </a:prstGeom>
          <a:solidFill>
            <a:schemeClr val="bg2"/>
          </a:solidFill>
          <a:ln/>
        </p:spPr>
      </p:sp>
      <p:sp>
        <p:nvSpPr>
          <p:cNvPr id="19" name="Team icon circle 4"/>
          <p:cNvSpPr/>
          <p:nvPr/>
        </p:nvSpPr>
        <p:spPr>
          <a:xfrm>
            <a:off x="5952744" y="1463040"/>
            <a:ext cx="548640" cy="548640"/>
          </a:xfrm>
          <a:prstGeom prst="ellipse">
            <a:avLst/>
          </a:prstGeom>
          <a:solidFill>
            <a:schemeClr val="accent1"/>
          </a:solidFill>
          <a:ln/>
        </p:spPr>
      </p:sp>
      <p:pic>
        <p:nvPicPr>
          <p:cNvPr id="20" name="Team icon 4" descr="Team member 4">    </p:cNvPr>
          <p:cNvPicPr>
            <a:picLocks noChangeAspect="1"/>
          </p:cNvPicPr>
          <p:nvPr/>
        </p:nvPicPr>
        <p:blipFill>
          <a:blip r:embed="rId4"/>
          <a:stretch>
            <a:fillRect/>
          </a:stretch>
        </p:blipFill>
        <p:spPr>
          <a:xfrm>
            <a:off x="6108192" y="1618488"/>
            <a:ext cx="237744" cy="237744"/>
          </a:xfrm>
          <a:prstGeom prst="rect">
            <a:avLst/>
          </a:prstGeom>
        </p:spPr>
      </p:pic>
      <p:sp>
        <p:nvSpPr>
          <p:cNvPr id="21" name="Team name 4"/>
          <p:cNvSpPr txBox="1"/>
          <p:nvPr/>
        </p:nvSpPr>
        <p:spPr>
          <a:xfrm>
            <a:off x="5541264" y="2148840"/>
            <a:ext cx="1371600" cy="320040"/>
          </a:xfrm>
          <a:prstGeom prst="rect">
            <a:avLst/>
          </a:prstGeom>
          <a:noFill/>
          <a:ln/>
        </p:spPr>
        <p:txBody>
          <a:bodyPr wrap="square" lIns="0" tIns="0" rIns="0" bIns="0" rtlCol="0" anchor="t"/>
          <a:lstStyle/>
          <a:p>
            <a:pPr algn="ctr" indent="0" marL="0">
              <a:buNone/>
            </a:pPr>
            <a:r>
              <a:rPr lang="en-US" sz="1600" b="1" i="1" dirty="0">
                <a:solidFill>
                  <a:schemeClr val="accent6"/>
                </a:solidFill>
              </a:rPr>
              <a:t>[Name]</a:t>
            </a:r>
            <a:endParaRPr lang="en-US" sz="1600" dirty="0"/>
          </a:p>
        </p:txBody>
      </p:sp>
      <p:sp>
        <p:nvSpPr>
          <p:cNvPr id="22" name="Team role 4"/>
          <p:cNvSpPr txBox="1"/>
          <p:nvPr/>
        </p:nvSpPr>
        <p:spPr>
          <a:xfrm>
            <a:off x="5541264" y="2560320"/>
            <a:ext cx="1371600" cy="1097280"/>
          </a:xfrm>
          <a:prstGeom prst="rect">
            <a:avLst/>
          </a:prstGeom>
          <a:noFill/>
          <a:ln/>
        </p:spPr>
        <p:txBody>
          <a:bodyPr wrap="square" lIns="0" tIns="0" rIns="0" bIns="0" rtlCol="0" anchor="t"/>
          <a:lstStyle/>
          <a:p>
            <a:pPr algn="ctr" indent="0" marL="0">
              <a:buNone/>
            </a:pPr>
            <a:r>
              <a:rPr lang="en-US" sz="1400" dirty="0">
                <a:solidFill>
                  <a:schemeClr val="tx1"/>
                </a:solidFill>
              </a:rPr>
              <a:t>Document intake and analysis</a:t>
            </a:r>
            <a:endParaRPr lang="en-US" sz="1400" dirty="0"/>
          </a:p>
        </p:txBody>
      </p:sp>
      <p:sp>
        <p:nvSpPr>
          <p:cNvPr id="23" name="Team card 5"/>
          <p:cNvSpPr/>
          <p:nvPr/>
        </p:nvSpPr>
        <p:spPr>
          <a:xfrm>
            <a:off x="7114032" y="1280160"/>
            <a:ext cx="1554480" cy="2468880"/>
          </a:xfrm>
          <a:prstGeom prst="roundRect">
            <a:avLst>
              <a:gd name="adj" fmla="val 5882"/>
            </a:avLst>
          </a:prstGeom>
          <a:solidFill>
            <a:schemeClr val="bg2"/>
          </a:solidFill>
          <a:ln/>
        </p:spPr>
      </p:sp>
      <p:sp>
        <p:nvSpPr>
          <p:cNvPr id="24" name="Team icon circle 5"/>
          <p:cNvSpPr/>
          <p:nvPr/>
        </p:nvSpPr>
        <p:spPr>
          <a:xfrm>
            <a:off x="7616952" y="1463040"/>
            <a:ext cx="548640" cy="548640"/>
          </a:xfrm>
          <a:prstGeom prst="ellipse">
            <a:avLst/>
          </a:prstGeom>
          <a:solidFill>
            <a:schemeClr val="accent1"/>
          </a:solidFill>
          <a:ln/>
        </p:spPr>
      </p:sp>
      <p:pic>
        <p:nvPicPr>
          <p:cNvPr id="25" name="Team icon 5" descr="Team member 5">    </p:cNvPr>
          <p:cNvPicPr>
            <a:picLocks noChangeAspect="1"/>
          </p:cNvPicPr>
          <p:nvPr/>
        </p:nvPicPr>
        <p:blipFill>
          <a:blip r:embed="rId5"/>
          <a:stretch>
            <a:fillRect/>
          </a:stretch>
        </p:blipFill>
        <p:spPr>
          <a:xfrm>
            <a:off x="7772400" y="1618488"/>
            <a:ext cx="237744" cy="237744"/>
          </a:xfrm>
          <a:prstGeom prst="rect">
            <a:avLst/>
          </a:prstGeom>
        </p:spPr>
      </p:pic>
      <p:sp>
        <p:nvSpPr>
          <p:cNvPr id="26" name="Team name 5"/>
          <p:cNvSpPr txBox="1"/>
          <p:nvPr/>
        </p:nvSpPr>
        <p:spPr>
          <a:xfrm>
            <a:off x="7205472" y="2148840"/>
            <a:ext cx="1371600" cy="320040"/>
          </a:xfrm>
          <a:prstGeom prst="rect">
            <a:avLst/>
          </a:prstGeom>
          <a:noFill/>
          <a:ln/>
        </p:spPr>
        <p:txBody>
          <a:bodyPr wrap="square" lIns="0" tIns="0" rIns="0" bIns="0" rtlCol="0" anchor="t"/>
          <a:lstStyle/>
          <a:p>
            <a:pPr algn="ctr" indent="0" marL="0">
              <a:buNone/>
            </a:pPr>
            <a:r>
              <a:rPr lang="en-US" sz="1600" b="1" i="1" dirty="0">
                <a:solidFill>
                  <a:schemeClr val="accent6"/>
                </a:solidFill>
              </a:rPr>
              <a:t>[Name]</a:t>
            </a:r>
            <a:endParaRPr lang="en-US" sz="1600" dirty="0"/>
          </a:p>
        </p:txBody>
      </p:sp>
      <p:sp>
        <p:nvSpPr>
          <p:cNvPr id="27" name="Team role 5"/>
          <p:cNvSpPr txBox="1"/>
          <p:nvPr/>
        </p:nvSpPr>
        <p:spPr>
          <a:xfrm>
            <a:off x="7205472" y="2560320"/>
            <a:ext cx="1371600" cy="1097280"/>
          </a:xfrm>
          <a:prstGeom prst="rect">
            <a:avLst/>
          </a:prstGeom>
          <a:noFill/>
          <a:ln/>
        </p:spPr>
        <p:txBody>
          <a:bodyPr wrap="square" lIns="0" tIns="0" rIns="0" bIns="0" rtlCol="0" anchor="t"/>
          <a:lstStyle/>
          <a:p>
            <a:pPr algn="ctr" indent="0" marL="0">
              <a:buNone/>
            </a:pPr>
            <a:r>
              <a:rPr lang="en-US" sz="1400" dirty="0">
                <a:solidFill>
                  <a:schemeClr val="tx1"/>
                </a:solidFill>
              </a:rPr>
              <a:t>Model catalog and recommendation</a:t>
            </a:r>
            <a:endParaRPr lang="en-US" sz="1400" dirty="0"/>
          </a:p>
        </p:txBody>
      </p:sp>
      <p:sp>
        <p:nvSpPr>
          <p:cNvPr id="28" name="Why us banner"/>
          <p:cNvSpPr/>
          <p:nvPr/>
        </p:nvSpPr>
        <p:spPr>
          <a:xfrm>
            <a:off x="457200" y="3931920"/>
            <a:ext cx="8229600" cy="502920"/>
          </a:xfrm>
          <a:prstGeom prst="roundRect">
            <a:avLst>
              <a:gd name="adj" fmla="val 18182"/>
            </a:avLst>
          </a:prstGeom>
          <a:solidFill>
            <a:schemeClr val="bg2"/>
          </a:solidFill>
          <a:ln/>
        </p:spPr>
      </p:sp>
      <p:sp>
        <p:nvSpPr>
          <p:cNvPr id="29" name="Why us text"/>
          <p:cNvSpPr txBox="1"/>
          <p:nvPr/>
        </p:nvSpPr>
        <p:spPr>
          <a:xfrm>
            <a:off x="640080" y="3931920"/>
            <a:ext cx="7863840" cy="502920"/>
          </a:xfrm>
          <a:prstGeom prst="rect">
            <a:avLst/>
          </a:prstGeom>
          <a:noFill/>
          <a:ln/>
        </p:spPr>
        <p:txBody>
          <a:bodyPr wrap="square" lIns="0" tIns="0" rIns="0" bIns="0" rtlCol="0" anchor="ctr"/>
          <a:lstStyle/>
          <a:p>
            <a:pPr indent="0" marL="0">
              <a:buNone/>
            </a:pPr>
            <a:r>
              <a:rPr lang="en-US" sz="1400" i="1" dirty="0">
                <a:solidFill>
                  <a:schemeClr val="accent6"/>
                </a:solidFill>
              </a:rPr>
              <a:t>[Add one line: why this team is right for this problem]</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Ask label"/>
          <p:cNvSpPr txBox="1"/>
          <p:nvPr/>
        </p:nvSpPr>
        <p:spPr>
          <a:xfrm>
            <a:off x="640080" y="502920"/>
            <a:ext cx="2743200" cy="274320"/>
          </a:xfrm>
          <a:prstGeom prst="rect">
            <a:avLst/>
          </a:prstGeom>
          <a:noFill/>
          <a:ln/>
        </p:spPr>
        <p:txBody>
          <a:bodyPr wrap="square" lIns="0" tIns="0" rIns="0" bIns="0" rtlCol="0" anchor="t"/>
          <a:lstStyle/>
          <a:p>
            <a:pPr indent="0" marL="0">
              <a:buNone/>
            </a:pPr>
            <a:r>
              <a:rPr lang="en-US" sz="1400" b="1" dirty="0">
                <a:solidFill>
                  <a:schemeClr val="accent2"/>
                </a:solidFill>
              </a:rPr>
              <a:t>The ask</a:t>
            </a:r>
            <a:endParaRPr lang="en-US" sz="1400" dirty="0"/>
          </a:p>
        </p:txBody>
      </p:sp>
      <p:sp>
        <p:nvSpPr>
          <p:cNvPr id="3" name="Ask figure"/>
          <p:cNvSpPr txBox="1"/>
          <p:nvPr/>
        </p:nvSpPr>
        <p:spPr>
          <a:xfrm>
            <a:off x="640080" y="822960"/>
            <a:ext cx="3931920" cy="914400"/>
          </a:xfrm>
          <a:prstGeom prst="rect">
            <a:avLst/>
          </a:prstGeom>
          <a:noFill/>
          <a:ln/>
        </p:spPr>
        <p:txBody>
          <a:bodyPr wrap="square" lIns="0" tIns="0" rIns="0" bIns="0" rtlCol="0" anchor="t"/>
          <a:lstStyle/>
          <a:p>
            <a:pPr indent="0" marL="0">
              <a:buNone/>
            </a:pPr>
            <a:r>
              <a:rPr lang="en-US" sz="6000" b="1" dirty="0">
                <a:solidFill>
                  <a:schemeClr val="bg1"/>
                </a:solidFill>
                <a:latin typeface="+mj-lt" pitchFamily="34" charset="0"/>
                <a:ea typeface="+mj-lt" pitchFamily="34" charset="-122"/>
                <a:cs typeface="+mj-lt" pitchFamily="34" charset="-120"/>
              </a:rPr>
              <a:t>$365</a:t>
            </a:r>
            <a:endParaRPr lang="en-US" sz="6000" dirty="0"/>
          </a:p>
        </p:txBody>
      </p:sp>
      <p:sp>
        <p:nvSpPr>
          <p:cNvPr id="4" name="Ask sentence"/>
          <p:cNvSpPr txBox="1"/>
          <p:nvPr/>
        </p:nvSpPr>
        <p:spPr>
          <a:xfrm>
            <a:off x="640080" y="1783080"/>
            <a:ext cx="3840480" cy="731520"/>
          </a:xfrm>
          <a:prstGeom prst="rect">
            <a:avLst/>
          </a:prstGeom>
          <a:noFill/>
          <a:ln/>
        </p:spPr>
        <p:txBody>
          <a:bodyPr wrap="square" lIns="0" tIns="0" rIns="0" bIns="0" rtlCol="0" anchor="t"/>
          <a:lstStyle/>
          <a:p>
            <a:pPr indent="0" marL="0">
              <a:buNone/>
            </a:pPr>
            <a:r>
              <a:rPr lang="en-US" sz="1800" dirty="0">
                <a:solidFill>
                  <a:schemeClr val="bg2"/>
                </a:solidFill>
              </a:rPr>
              <a:t>to build and launch the BenchCraft MVP in 5 sprints.</a:t>
            </a:r>
            <a:endParaRPr lang="en-US" sz="1800" dirty="0"/>
          </a:p>
        </p:txBody>
      </p:sp>
      <p:sp>
        <p:nvSpPr>
          <p:cNvPr id="5" name="Use amount 1"/>
          <p:cNvSpPr txBox="1"/>
          <p:nvPr/>
        </p:nvSpPr>
        <p:spPr>
          <a:xfrm>
            <a:off x="640080" y="2697480"/>
            <a:ext cx="822960" cy="320040"/>
          </a:xfrm>
          <a:prstGeom prst="rect">
            <a:avLst/>
          </a:prstGeom>
          <a:noFill/>
          <a:ln/>
        </p:spPr>
        <p:txBody>
          <a:bodyPr wrap="square" lIns="0" tIns="0" rIns="0" bIns="0" rtlCol="0" anchor="ctr"/>
          <a:lstStyle/>
          <a:p>
            <a:pPr indent="0" marL="0">
              <a:buNone/>
            </a:pPr>
            <a:r>
              <a:rPr lang="en-US" sz="1600" b="1" dirty="0">
                <a:solidFill>
                  <a:schemeClr val="accent2"/>
                </a:solidFill>
              </a:rPr>
              <a:t>$15</a:t>
            </a:r>
            <a:endParaRPr lang="en-US" sz="1600" dirty="0"/>
          </a:p>
        </p:txBody>
      </p:sp>
      <p:sp>
        <p:nvSpPr>
          <p:cNvPr id="6" name="Use label 1"/>
          <p:cNvSpPr txBox="1"/>
          <p:nvPr/>
        </p:nvSpPr>
        <p:spPr>
          <a:xfrm>
            <a:off x="1508760" y="2697480"/>
            <a:ext cx="3017520" cy="320040"/>
          </a:xfrm>
          <a:prstGeom prst="rect">
            <a:avLst/>
          </a:prstGeom>
          <a:noFill/>
          <a:ln/>
        </p:spPr>
        <p:txBody>
          <a:bodyPr wrap="square" lIns="0" tIns="0" rIns="0" bIns="0" rtlCol="0" anchor="ctr"/>
          <a:lstStyle/>
          <a:p>
            <a:pPr indent="0" marL="0">
              <a:buNone/>
            </a:pPr>
            <a:r>
              <a:rPr lang="en-US" sz="1400" dirty="0">
                <a:solidFill>
                  <a:schemeClr val="bg1"/>
                </a:solidFill>
              </a:rPr>
              <a:t>Domain name</a:t>
            </a:r>
            <a:endParaRPr lang="en-US" sz="1400" dirty="0"/>
          </a:p>
        </p:txBody>
      </p:sp>
      <p:sp>
        <p:nvSpPr>
          <p:cNvPr id="7" name="Use amount 2"/>
          <p:cNvSpPr txBox="1"/>
          <p:nvPr/>
        </p:nvSpPr>
        <p:spPr>
          <a:xfrm>
            <a:off x="640080" y="3081528"/>
            <a:ext cx="822960" cy="320040"/>
          </a:xfrm>
          <a:prstGeom prst="rect">
            <a:avLst/>
          </a:prstGeom>
          <a:noFill/>
          <a:ln/>
        </p:spPr>
        <p:txBody>
          <a:bodyPr wrap="square" lIns="0" tIns="0" rIns="0" bIns="0" rtlCol="0" anchor="ctr"/>
          <a:lstStyle/>
          <a:p>
            <a:pPr indent="0" marL="0">
              <a:buNone/>
            </a:pPr>
            <a:r>
              <a:rPr lang="en-US" sz="1600" b="1" dirty="0">
                <a:solidFill>
                  <a:schemeClr val="accent2"/>
                </a:solidFill>
              </a:rPr>
              <a:t>$250</a:t>
            </a:r>
            <a:endParaRPr lang="en-US" sz="1600" dirty="0"/>
          </a:p>
        </p:txBody>
      </p:sp>
      <p:sp>
        <p:nvSpPr>
          <p:cNvPr id="8" name="Use label 2"/>
          <p:cNvSpPr txBox="1"/>
          <p:nvPr/>
        </p:nvSpPr>
        <p:spPr>
          <a:xfrm>
            <a:off x="1508760" y="3081528"/>
            <a:ext cx="3017520" cy="320040"/>
          </a:xfrm>
          <a:prstGeom prst="rect">
            <a:avLst/>
          </a:prstGeom>
          <a:noFill/>
          <a:ln/>
        </p:spPr>
        <p:txBody>
          <a:bodyPr wrap="square" lIns="0" tIns="0" rIns="0" bIns="0" rtlCol="0" anchor="ctr"/>
          <a:lstStyle/>
          <a:p>
            <a:pPr indent="0" marL="0">
              <a:buNone/>
            </a:pPr>
            <a:r>
              <a:rPr lang="en-US" sz="1400" dirty="0">
                <a:solidFill>
                  <a:schemeClr val="bg1"/>
                </a:solidFill>
              </a:rPr>
              <a:t>AI/API credits</a:t>
            </a:r>
            <a:endParaRPr lang="en-US" sz="1400" dirty="0"/>
          </a:p>
        </p:txBody>
      </p:sp>
      <p:sp>
        <p:nvSpPr>
          <p:cNvPr id="9" name="Use amount 3"/>
          <p:cNvSpPr txBox="1"/>
          <p:nvPr/>
        </p:nvSpPr>
        <p:spPr>
          <a:xfrm>
            <a:off x="640080" y="3465576"/>
            <a:ext cx="822960" cy="320040"/>
          </a:xfrm>
          <a:prstGeom prst="rect">
            <a:avLst/>
          </a:prstGeom>
          <a:noFill/>
          <a:ln/>
        </p:spPr>
        <p:txBody>
          <a:bodyPr wrap="square" lIns="0" tIns="0" rIns="0" bIns="0" rtlCol="0" anchor="ctr"/>
          <a:lstStyle/>
          <a:p>
            <a:pPr indent="0" marL="0">
              <a:buNone/>
            </a:pPr>
            <a:r>
              <a:rPr lang="en-US" sz="1600" b="1" dirty="0">
                <a:solidFill>
                  <a:schemeClr val="accent2"/>
                </a:solidFill>
              </a:rPr>
              <a:t>$100</a:t>
            </a:r>
            <a:endParaRPr lang="en-US" sz="1600" dirty="0"/>
          </a:p>
        </p:txBody>
      </p:sp>
      <p:sp>
        <p:nvSpPr>
          <p:cNvPr id="10" name="Use label 3"/>
          <p:cNvSpPr txBox="1"/>
          <p:nvPr/>
        </p:nvSpPr>
        <p:spPr>
          <a:xfrm>
            <a:off x="1508760" y="3465576"/>
            <a:ext cx="3017520" cy="320040"/>
          </a:xfrm>
          <a:prstGeom prst="rect">
            <a:avLst/>
          </a:prstGeom>
          <a:noFill/>
          <a:ln/>
        </p:spPr>
        <p:txBody>
          <a:bodyPr wrap="square" lIns="0" tIns="0" rIns="0" bIns="0" rtlCol="0" anchor="ctr"/>
          <a:lstStyle/>
          <a:p>
            <a:pPr indent="0" marL="0">
              <a:buNone/>
            </a:pPr>
            <a:r>
              <a:rPr lang="en-US" sz="1400" dirty="0">
                <a:solidFill>
                  <a:schemeClr val="bg1"/>
                </a:solidFill>
              </a:rPr>
              <a:t>Contingency</a:t>
            </a:r>
            <a:endParaRPr lang="en-US" sz="1400" dirty="0"/>
          </a:p>
        </p:txBody>
      </p:sp>
      <p:sp>
        <p:nvSpPr>
          <p:cNvPr id="11" name="Free tier note"/>
          <p:cNvSpPr txBox="1"/>
          <p:nvPr/>
        </p:nvSpPr>
        <p:spPr>
          <a:xfrm>
            <a:off x="640080" y="3931920"/>
            <a:ext cx="3840480" cy="274320"/>
          </a:xfrm>
          <a:prstGeom prst="rect">
            <a:avLst/>
          </a:prstGeom>
          <a:noFill/>
          <a:ln/>
        </p:spPr>
        <p:txBody>
          <a:bodyPr wrap="square" lIns="0" tIns="0" rIns="0" bIns="0" rtlCol="0" anchor="t"/>
          <a:lstStyle/>
          <a:p>
            <a:pPr indent="0" marL="0">
              <a:buNone/>
            </a:pPr>
            <a:r>
              <a:rPr lang="en-US" sz="1200" i="1" dirty="0">
                <a:solidFill>
                  <a:schemeClr val="bg2"/>
                </a:solidFill>
              </a:rPr>
              <a:t>Free tiers cover hosting and tools.</a:t>
            </a:r>
            <a:endParaRPr lang="en-US" sz="1200" dirty="0"/>
          </a:p>
        </p:txBody>
      </p:sp>
      <p:sp>
        <p:nvSpPr>
          <p:cNvPr id="12" name="Chart card"/>
          <p:cNvSpPr/>
          <p:nvPr/>
        </p:nvSpPr>
        <p:spPr>
          <a:xfrm>
            <a:off x="4754880" y="502920"/>
            <a:ext cx="3931920" cy="3154680"/>
          </a:xfrm>
          <a:prstGeom prst="roundRect">
            <a:avLst>
              <a:gd name="adj" fmla="val 2899"/>
            </a:avLst>
          </a:prstGeom>
          <a:solidFill>
            <a:schemeClr val="bg1"/>
          </a:solidFill>
          <a:ln/>
        </p:spPr>
      </p:sp>
      <p:graphicFrame>
        <p:nvGraphicFramePr>
          <p:cNvPr id="13" name="Chart 0" descr=""/>
          <p:cNvGraphicFramePr/>
          <p:nvPr/>
        </p:nvGraphicFramePr>
        <p:xfrm>
          <a:off x="4846320" y="594360"/>
          <a:ext cx="3749040" cy="2331720"/>
        </p:xfrm>
        <a:graphic xmlns:a="http://schemas.openxmlformats.org/drawingml/2006/main">
          <a:graphicData uri="http://schemas.openxmlformats.org/drawingml/2006/chart">
            <c:chart xmlns:c="http://schemas.openxmlformats.org/drawingml/2006/chart" r:id="rId1"/>
          </a:graphicData>
        </a:graphic>
      </p:graphicFrame>
      <p:sp>
        <p:nvSpPr>
          <p:cNvPr id="14" name="Chart headline"/>
          <p:cNvSpPr txBox="1"/>
          <p:nvPr/>
        </p:nvSpPr>
        <p:spPr>
          <a:xfrm>
            <a:off x="5029200" y="3017520"/>
            <a:ext cx="3566160" cy="274320"/>
          </a:xfrm>
          <a:prstGeom prst="rect">
            <a:avLst/>
          </a:prstGeom>
          <a:noFill/>
          <a:ln/>
        </p:spPr>
        <p:txBody>
          <a:bodyPr wrap="square" lIns="0" tIns="0" rIns="0" bIns="0" rtlCol="0" anchor="t"/>
          <a:lstStyle/>
          <a:p>
            <a:pPr indent="0" marL="0">
              <a:buNone/>
            </a:pPr>
            <a:r>
              <a:rPr lang="en-US" sz="1400" b="1" dirty="0">
                <a:solidFill>
                  <a:schemeClr val="tx1"/>
                </a:solidFill>
              </a:rPr>
              <a:t>Month 12 target: 100 paying users</a:t>
            </a:r>
            <a:endParaRPr lang="en-US" sz="1400" dirty="0"/>
          </a:p>
        </p:txBody>
      </p:sp>
      <p:sp>
        <p:nvSpPr>
          <p:cNvPr id="15" name="Chart qualifier"/>
          <p:cNvSpPr txBox="1"/>
          <p:nvPr/>
        </p:nvSpPr>
        <p:spPr>
          <a:xfrm>
            <a:off x="5029200" y="3310128"/>
            <a:ext cx="3566160" cy="228600"/>
          </a:xfrm>
          <a:prstGeom prst="rect">
            <a:avLst/>
          </a:prstGeom>
          <a:noFill/>
          <a:ln/>
        </p:spPr>
        <p:txBody>
          <a:bodyPr wrap="square" lIns="0" tIns="0" rIns="0" bIns="0" rtlCol="0" anchor="t"/>
          <a:lstStyle/>
          <a:p>
            <a:pPr indent="0" marL="0">
              <a:buNone/>
            </a:pPr>
            <a:r>
              <a:rPr lang="en-US" sz="1000" i="1" dirty="0">
                <a:solidFill>
                  <a:schemeClr val="accent4"/>
                </a:solidFill>
              </a:rPr>
              <a:t>Targets after launch, not forecasts</a:t>
            </a:r>
            <a:endParaRPr lang="en-US" sz="1000" dirty="0"/>
          </a:p>
        </p:txBody>
      </p:sp>
      <p:sp>
        <p:nvSpPr>
          <p:cNvPr id="16" name="Break-even chip"/>
          <p:cNvSpPr/>
          <p:nvPr/>
        </p:nvSpPr>
        <p:spPr>
          <a:xfrm>
            <a:off x="4754880" y="3840480"/>
            <a:ext cx="3931920" cy="502920"/>
          </a:xfrm>
          <a:prstGeom prst="roundRect">
            <a:avLst>
              <a:gd name="adj" fmla="val 18182"/>
            </a:avLst>
          </a:prstGeom>
          <a:solidFill>
            <a:schemeClr val="tx2"/>
          </a:solidFill>
          <a:ln/>
        </p:spPr>
      </p:sp>
      <p:sp>
        <p:nvSpPr>
          <p:cNvPr id="17" name="Break-even text"/>
          <p:cNvSpPr txBox="1"/>
          <p:nvPr/>
        </p:nvSpPr>
        <p:spPr>
          <a:xfrm>
            <a:off x="4754880" y="3840480"/>
            <a:ext cx="3931920" cy="502920"/>
          </a:xfrm>
          <a:prstGeom prst="rect">
            <a:avLst/>
          </a:prstGeom>
          <a:noFill/>
          <a:ln/>
        </p:spPr>
        <p:txBody>
          <a:bodyPr wrap="square" lIns="0" tIns="0" rIns="0" bIns="0" rtlCol="0" anchor="ctr"/>
          <a:lstStyle/>
          <a:p>
            <a:pPr algn="ctr" indent="0" marL="0">
              <a:buNone/>
            </a:pPr>
            <a:r>
              <a:rPr lang="en-US" sz="1600" b="1" dirty="0">
                <a:solidFill>
                  <a:schemeClr val="bg1"/>
                </a:solidFill>
              </a:rPr>
              <a:t>Break-even at 2 paying users</a:t>
            </a:r>
            <a:endParaRPr lang="en-US" sz="16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BenchCraft">
  <a:themeElements>
    <a:clrScheme name="BenchCraft">
      <a:dk1>
        <a:srgbClr val="0A2E2B"/>
      </a:dk1>
      <a:lt1>
        <a:srgbClr val="FFFFFF"/>
      </a:lt1>
      <a:dk2>
        <a:srgbClr val="1D524C"/>
      </a:dk2>
      <a:lt2>
        <a:srgbClr val="EDF2EF"/>
      </a:lt2>
      <a:accent1>
        <a:srgbClr val="1F5C55"/>
      </a:accent1>
      <a:accent2>
        <a:srgbClr val="E7B44A"/>
      </a:accent2>
      <a:accent3>
        <a:srgbClr val="0A2E2B"/>
      </a:accent3>
      <a:accent4>
        <a:srgbClr val="4B605C"/>
      </a:accent4>
      <a:accent5>
        <a:srgbClr val="B87A14"/>
      </a:accent5>
      <a:accent6>
        <a:srgbClr val="8A5A0B"/>
      </a:accent6>
      <a:hlink>
        <a:srgbClr val="1F5C55"/>
      </a:hlink>
      <a:folHlink>
        <a:srgbClr val="4B605C"/>
      </a:folHlink>
    </a:clrScheme>
    <a:fontScheme name="BenchCraf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BenchCraft Seed Pitch</dc:title>
  <dc:subject>PptxGenJS Presentation</dc:subject>
  <dc:creator>BenchCraft Team</dc:creator>
  <cp:lastModifiedBy>BenchCraft Team</cp:lastModifiedBy>
  <cp:revision>1</cp:revision>
  <dcterms:created xsi:type="dcterms:W3CDTF">2026-10-18T08:51:05Z</dcterms:created>
  <dcterms:modified xsi:type="dcterms:W3CDTF">2026-10-18T08:51:05Z</dcterms:modified>
</cp:coreProperties>
</file>